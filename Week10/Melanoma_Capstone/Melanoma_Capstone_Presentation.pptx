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binxaimlinternship-ahm9zn2cc7ebk8gzw7fzhh.streamlit.app/"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0B10"/>
          </a:solidFill>
          <a:ln/>
        </p:spPr>
      </p:sp>
      <p:sp>
        <p:nvSpPr>
          <p:cNvPr id="3" name="Shape 1"/>
          <p:cNvSpPr/>
          <p:nvPr/>
        </p:nvSpPr>
        <p:spPr>
          <a:xfrm>
            <a:off x="7132320" y="-1097280"/>
            <a:ext cx="3200400" cy="3200400"/>
          </a:xfrm>
          <a:prstGeom prst="ellipse">
            <a:avLst/>
          </a:prstGeom>
          <a:solidFill>
            <a:srgbClr val="2D0A1C"/>
          </a:solidFill>
          <a:ln w="12700">
            <a:solidFill>
              <a:srgbClr val="3D1020"/>
            </a:solidFill>
            <a:prstDash val="solid"/>
          </a:ln>
        </p:spPr>
      </p:sp>
      <p:sp>
        <p:nvSpPr>
          <p:cNvPr id="4" name="Shape 2"/>
          <p:cNvSpPr/>
          <p:nvPr/>
        </p:nvSpPr>
        <p:spPr>
          <a:xfrm>
            <a:off x="7589520" y="-640080"/>
            <a:ext cx="2011680" cy="2011680"/>
          </a:xfrm>
          <a:prstGeom prst="ellipse">
            <a:avLst/>
          </a:prstGeom>
          <a:solidFill>
            <a:srgbClr val="1A1018"/>
          </a:solidFill>
          <a:ln w="12700">
            <a:solidFill>
              <a:srgbClr val="4D1530"/>
            </a:solidFill>
            <a:prstDash val="solid"/>
          </a:ln>
        </p:spPr>
      </p:sp>
      <p:sp>
        <p:nvSpPr>
          <p:cNvPr id="5" name="Text 3"/>
          <p:cNvSpPr txBox="1"/>
          <p:nvPr/>
        </p:nvSpPr>
        <p:spPr>
          <a:xfrm>
            <a:off x="457200" y="822960"/>
            <a:ext cx="8229600" cy="256032"/>
          </a:xfrm>
          <a:prstGeom prst="rect">
            <a:avLst/>
          </a:prstGeom>
          <a:noFill/>
          <a:ln/>
        </p:spPr>
        <p:txBody>
          <a:bodyPr wrap="square" rtlCol="0" anchor="ctr"/>
          <a:lstStyle/>
          <a:p>
            <a:pPr indent="0" marL="0">
              <a:buNone/>
            </a:pPr>
            <a:r>
              <a:rPr lang="en-US" sz="900" b="1" spc="300" kern="0" dirty="0">
                <a:solidFill>
                  <a:srgbClr val="F8A5C2"/>
                </a:solidFill>
              </a:rPr>
              <a:t>BinX Tech · AI &amp; ML Internship · Capstone Project</a:t>
            </a:r>
            <a:endParaRPr lang="en-US" sz="900" dirty="0"/>
          </a:p>
        </p:txBody>
      </p:sp>
      <p:sp>
        <p:nvSpPr>
          <p:cNvPr id="6" name="Text 4"/>
          <p:cNvSpPr txBox="1"/>
          <p:nvPr/>
        </p:nvSpPr>
        <p:spPr>
          <a:xfrm>
            <a:off x="457200" y="1143000"/>
            <a:ext cx="8229600" cy="914400"/>
          </a:xfrm>
          <a:prstGeom prst="rect">
            <a:avLst/>
          </a:prstGeom>
          <a:noFill/>
          <a:ln/>
        </p:spPr>
        <p:txBody>
          <a:bodyPr wrap="square"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Melanoma</a:t>
            </a:r>
            <a:endParaRPr lang="en-US" sz="5400" dirty="0"/>
          </a:p>
        </p:txBody>
      </p:sp>
      <p:sp>
        <p:nvSpPr>
          <p:cNvPr id="7" name="Text 5"/>
          <p:cNvSpPr txBox="1"/>
          <p:nvPr/>
        </p:nvSpPr>
        <p:spPr>
          <a:xfrm>
            <a:off x="457200" y="1920240"/>
            <a:ext cx="8229600" cy="822960"/>
          </a:xfrm>
          <a:prstGeom prst="rect">
            <a:avLst/>
          </a:prstGeom>
          <a:noFill/>
          <a:ln/>
        </p:spPr>
        <p:txBody>
          <a:bodyPr wrap="square" rtlCol="0" anchor="ctr"/>
          <a:lstStyle/>
          <a:p>
            <a:pPr indent="0" marL="0">
              <a:buNone/>
            </a:pPr>
            <a:r>
              <a:rPr lang="en-US" sz="5400" b="1" i="1" dirty="0">
                <a:solidFill>
                  <a:srgbClr val="F8A5C2"/>
                </a:solidFill>
                <a:latin typeface="Georgia" pitchFamily="34" charset="0"/>
                <a:ea typeface="Georgia" pitchFamily="34" charset="-122"/>
                <a:cs typeface="Georgia" pitchFamily="34" charset="-120"/>
              </a:rPr>
              <a:t>Classification</a:t>
            </a:r>
            <a:endParaRPr lang="en-US" sz="5400" dirty="0"/>
          </a:p>
        </p:txBody>
      </p:sp>
      <p:sp>
        <p:nvSpPr>
          <p:cNvPr id="8" name="Text 6"/>
          <p:cNvSpPr txBox="1"/>
          <p:nvPr/>
        </p:nvSpPr>
        <p:spPr>
          <a:xfrm>
            <a:off x="457200" y="2816352"/>
            <a:ext cx="7772400" cy="457200"/>
          </a:xfrm>
          <a:prstGeom prst="rect">
            <a:avLst/>
          </a:prstGeom>
          <a:noFill/>
          <a:ln/>
        </p:spPr>
        <p:txBody>
          <a:bodyPr wrap="square" rtlCol="0" anchor="ctr"/>
          <a:lstStyle/>
          <a:p>
            <a:pPr indent="0" marL="0">
              <a:buNone/>
            </a:pPr>
            <a:r>
              <a:rPr lang="en-US" sz="1200" i="1" dirty="0">
                <a:solidFill>
                  <a:srgbClr val="888888"/>
                </a:solidFill>
                <a:latin typeface="Georgia" pitchFamily="34" charset="0"/>
                <a:ea typeface="Georgia" pitchFamily="34" charset="-122"/>
                <a:cs typeface="Georgia" pitchFamily="34" charset="-120"/>
              </a:rPr>
              <a:t>Binary skin lesion classification — from CNN experimentation to a publicly deployed web application</a:t>
            </a:r>
            <a:endParaRPr lang="en-US" sz="1200" dirty="0"/>
          </a:p>
        </p:txBody>
      </p:sp>
      <p:sp>
        <p:nvSpPr>
          <p:cNvPr id="9" name="Shape 7"/>
          <p:cNvSpPr/>
          <p:nvPr/>
        </p:nvSpPr>
        <p:spPr>
          <a:xfrm>
            <a:off x="457200" y="3429000"/>
            <a:ext cx="2011680" cy="274320"/>
          </a:xfrm>
          <a:prstGeom prst="roundRect">
            <a:avLst>
              <a:gd name="adj" fmla="val 50000"/>
            </a:avLst>
          </a:prstGeom>
          <a:solidFill>
            <a:srgbClr val="2D1020"/>
          </a:solidFill>
          <a:ln w="12700">
            <a:solidFill>
              <a:srgbClr val="4D2040"/>
            </a:solidFill>
            <a:prstDash val="solid"/>
          </a:ln>
        </p:spPr>
      </p:sp>
      <p:sp>
        <p:nvSpPr>
          <p:cNvPr id="10" name="Text 8"/>
          <p:cNvSpPr txBox="1"/>
          <p:nvPr/>
        </p:nvSpPr>
        <p:spPr>
          <a:xfrm>
            <a:off x="502920" y="3456432"/>
            <a:ext cx="1920240" cy="219456"/>
          </a:xfrm>
          <a:prstGeom prst="rect">
            <a:avLst/>
          </a:prstGeom>
          <a:noFill/>
          <a:ln/>
        </p:spPr>
        <p:txBody>
          <a:bodyPr wrap="square" rtlCol="0" anchor="ctr"/>
          <a:lstStyle/>
          <a:p>
            <a:pPr algn="ctr" indent="0" marL="0">
              <a:buNone/>
            </a:pPr>
            <a:r>
              <a:rPr lang="en-US" sz="850" dirty="0">
                <a:solidFill>
                  <a:srgbClr val="888888"/>
                </a:solidFill>
              </a:rPr>
              <a:t>Nadeen Shadeed</a:t>
            </a:r>
            <a:endParaRPr lang="en-US" sz="850" dirty="0"/>
          </a:p>
        </p:txBody>
      </p:sp>
      <p:sp>
        <p:nvSpPr>
          <p:cNvPr id="11" name="Shape 9"/>
          <p:cNvSpPr/>
          <p:nvPr/>
        </p:nvSpPr>
        <p:spPr>
          <a:xfrm>
            <a:off x="2606040" y="3429000"/>
            <a:ext cx="2011680" cy="274320"/>
          </a:xfrm>
          <a:prstGeom prst="roundRect">
            <a:avLst>
              <a:gd name="adj" fmla="val 50000"/>
            </a:avLst>
          </a:prstGeom>
          <a:solidFill>
            <a:srgbClr val="2D1020"/>
          </a:solidFill>
          <a:ln w="12700">
            <a:solidFill>
              <a:srgbClr val="4D2040"/>
            </a:solidFill>
            <a:prstDash val="solid"/>
          </a:ln>
        </p:spPr>
      </p:sp>
      <p:sp>
        <p:nvSpPr>
          <p:cNvPr id="12" name="Text 10"/>
          <p:cNvSpPr txBox="1"/>
          <p:nvPr/>
        </p:nvSpPr>
        <p:spPr>
          <a:xfrm>
            <a:off x="2651760" y="3456432"/>
            <a:ext cx="1920240" cy="219456"/>
          </a:xfrm>
          <a:prstGeom prst="rect">
            <a:avLst/>
          </a:prstGeom>
          <a:noFill/>
          <a:ln/>
        </p:spPr>
        <p:txBody>
          <a:bodyPr wrap="square" rtlCol="0" anchor="ctr"/>
          <a:lstStyle/>
          <a:p>
            <a:pPr algn="ctr" indent="0" marL="0">
              <a:buNone/>
            </a:pPr>
            <a:r>
              <a:rPr lang="en-US" sz="850" dirty="0">
                <a:solidFill>
                  <a:srgbClr val="888888"/>
                </a:solidFill>
              </a:rPr>
              <a:t>ISIC Melanoma Dataset</a:t>
            </a:r>
            <a:endParaRPr lang="en-US" sz="850" dirty="0"/>
          </a:p>
        </p:txBody>
      </p:sp>
      <p:sp>
        <p:nvSpPr>
          <p:cNvPr id="13" name="Shape 11"/>
          <p:cNvSpPr/>
          <p:nvPr/>
        </p:nvSpPr>
        <p:spPr>
          <a:xfrm>
            <a:off x="4754880" y="3429000"/>
            <a:ext cx="2011680" cy="274320"/>
          </a:xfrm>
          <a:prstGeom prst="roundRect">
            <a:avLst>
              <a:gd name="adj" fmla="val 50000"/>
            </a:avLst>
          </a:prstGeom>
          <a:solidFill>
            <a:srgbClr val="2D1020"/>
          </a:solidFill>
          <a:ln w="12700">
            <a:solidFill>
              <a:srgbClr val="4D2040"/>
            </a:solidFill>
            <a:prstDash val="solid"/>
          </a:ln>
        </p:spPr>
      </p:sp>
      <p:sp>
        <p:nvSpPr>
          <p:cNvPr id="14" name="Text 12"/>
          <p:cNvSpPr txBox="1"/>
          <p:nvPr/>
        </p:nvSpPr>
        <p:spPr>
          <a:xfrm>
            <a:off x="4800600" y="3456432"/>
            <a:ext cx="1920240" cy="219456"/>
          </a:xfrm>
          <a:prstGeom prst="rect">
            <a:avLst/>
          </a:prstGeom>
          <a:noFill/>
          <a:ln/>
        </p:spPr>
        <p:txBody>
          <a:bodyPr wrap="square" rtlCol="0" anchor="ctr"/>
          <a:lstStyle/>
          <a:p>
            <a:pPr algn="ctr" indent="0" marL="0">
              <a:buNone/>
            </a:pPr>
            <a:r>
              <a:rPr lang="en-US" sz="850" dirty="0">
                <a:solidFill>
                  <a:srgbClr val="888888"/>
                </a:solidFill>
              </a:rPr>
              <a:t>TensorFlow · FastAPI · Streamlit</a:t>
            </a:r>
            <a:endParaRPr lang="en-US" sz="850" dirty="0"/>
          </a:p>
        </p:txBody>
      </p:sp>
      <p:sp>
        <p:nvSpPr>
          <p:cNvPr id="15" name="Shape 13"/>
          <p:cNvSpPr/>
          <p:nvPr/>
        </p:nvSpPr>
        <p:spPr>
          <a:xfrm>
            <a:off x="6903720" y="3429000"/>
            <a:ext cx="2011680" cy="274320"/>
          </a:xfrm>
          <a:prstGeom prst="roundRect">
            <a:avLst>
              <a:gd name="adj" fmla="val 50000"/>
            </a:avLst>
          </a:prstGeom>
          <a:solidFill>
            <a:srgbClr val="2D1020"/>
          </a:solidFill>
          <a:ln w="12700">
            <a:solidFill>
              <a:srgbClr val="4D2040"/>
            </a:solidFill>
            <a:prstDash val="solid"/>
          </a:ln>
        </p:spPr>
      </p:sp>
      <p:sp>
        <p:nvSpPr>
          <p:cNvPr id="16" name="Text 14"/>
          <p:cNvSpPr txBox="1"/>
          <p:nvPr/>
        </p:nvSpPr>
        <p:spPr>
          <a:xfrm>
            <a:off x="6949440" y="3456432"/>
            <a:ext cx="1920240" cy="219456"/>
          </a:xfrm>
          <a:prstGeom prst="rect">
            <a:avLst/>
          </a:prstGeom>
          <a:noFill/>
          <a:ln/>
        </p:spPr>
        <p:txBody>
          <a:bodyPr wrap="square" rtlCol="0" anchor="ctr"/>
          <a:lstStyle/>
          <a:p>
            <a:pPr algn="ctr" indent="0" marL="0">
              <a:buNone/>
            </a:pPr>
            <a:r>
              <a:rPr lang="en-US" sz="850" dirty="0">
                <a:solidFill>
                  <a:srgbClr val="888888"/>
                </a:solidFill>
              </a:rPr>
              <a:t>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DFBFC"/>
          </a:solidFill>
          <a:ln/>
        </p:spPr>
      </p:sp>
      <p:sp>
        <p:nvSpPr>
          <p:cNvPr id="3" name="Text 1"/>
          <p:cNvSpPr txBox="1"/>
          <p:nvPr/>
        </p:nvSpPr>
        <p:spPr>
          <a:xfrm>
            <a:off x="457200" y="256032"/>
            <a:ext cx="8229600" cy="201168"/>
          </a:xfrm>
          <a:prstGeom prst="rect">
            <a:avLst/>
          </a:prstGeom>
          <a:noFill/>
          <a:ln/>
        </p:spPr>
        <p:txBody>
          <a:bodyPr wrap="square" rtlCol="0" anchor="ctr"/>
          <a:lstStyle/>
          <a:p>
            <a:pPr indent="0" marL="0">
              <a:buNone/>
            </a:pPr>
            <a:r>
              <a:rPr lang="en-US" sz="800" b="1" spc="300" kern="0" dirty="0">
                <a:solidFill>
                  <a:srgbClr val="C44569"/>
                </a:solidFill>
              </a:rPr>
              <a:t>THE PROBLEM</a:t>
            </a:r>
            <a:endParaRPr lang="en-US" sz="800" dirty="0"/>
          </a:p>
        </p:txBody>
      </p:sp>
      <p:sp>
        <p:nvSpPr>
          <p:cNvPr id="4" name="Text 2"/>
          <p:cNvSpPr txBox="1"/>
          <p:nvPr/>
        </p:nvSpPr>
        <p:spPr>
          <a:xfrm>
            <a:off x="457200" y="502920"/>
            <a:ext cx="8229600" cy="640080"/>
          </a:xfrm>
          <a:prstGeom prst="rect">
            <a:avLst/>
          </a:prstGeom>
          <a:noFill/>
          <a:ln/>
        </p:spPr>
        <p:txBody>
          <a:bodyPr wrap="square" rtlCol="0" anchor="ctr"/>
          <a:lstStyle/>
          <a:p>
            <a:pPr indent="0" marL="0">
              <a:buNone/>
            </a:pPr>
            <a:r>
              <a:rPr lang="en-US" sz="2200" b="1" dirty="0">
                <a:solidFill>
                  <a:srgbClr val="8B1E3F"/>
                </a:solidFill>
                <a:latin typeface="Georgia" pitchFamily="34" charset="0"/>
                <a:ea typeface="Georgia" pitchFamily="34" charset="-122"/>
                <a:cs typeface="Georgia" pitchFamily="34" charset="-120"/>
              </a:rPr>
              <a:t>Can a CNN distinguish a benign lesion</a:t>
            </a:r>
            <a:endParaRPr lang="en-US" sz="2200" dirty="0"/>
          </a:p>
          <a:p>
            <a:pPr indent="0" marL="0">
              <a:buNone/>
            </a:pPr>
            <a:r>
              <a:rPr lang="en-US" sz="2200" b="1" dirty="0">
                <a:solidFill>
                  <a:srgbClr val="8B1E3F"/>
                </a:solidFill>
                <a:latin typeface="Georgia" pitchFamily="34" charset="0"/>
                <a:ea typeface="Georgia" pitchFamily="34" charset="-122"/>
                <a:cs typeface="Georgia" pitchFamily="34" charset="-120"/>
              </a:rPr>
              <a:t>from a malignant one?</a:t>
            </a:r>
            <a:endParaRPr lang="en-US" sz="2200" dirty="0"/>
          </a:p>
        </p:txBody>
      </p:sp>
      <p:sp>
        <p:nvSpPr>
          <p:cNvPr id="5" name="Text 3"/>
          <p:cNvSpPr txBox="1"/>
          <p:nvPr/>
        </p:nvSpPr>
        <p:spPr>
          <a:xfrm>
            <a:off x="457200" y="1298448"/>
            <a:ext cx="8229600" cy="731520"/>
          </a:xfrm>
          <a:prstGeom prst="rect">
            <a:avLst/>
          </a:prstGeom>
          <a:noFill/>
          <a:ln/>
        </p:spPr>
        <p:txBody>
          <a:bodyPr wrap="square" rtlCol="0" anchor="ctr"/>
          <a:lstStyle/>
          <a:p>
            <a:pPr indent="0" marL="0">
              <a:lnSpc>
                <a:spcPct val="150000"/>
              </a:lnSpc>
              <a:buNone/>
            </a:pPr>
            <a:r>
              <a:rPr lang="en-US" sz="1200" dirty="0">
                <a:solidFill>
                  <a:srgbClr val="3D2535"/>
                </a:solidFill>
              </a:rPr>
              <a:t>Melanoma is one of the most dangerous forms of skin cancer, but early visual detection is possible from dermoscopic images. Benign and malignant lesions can look similar even to trained observers — making automated classification meaningful and non-trivial.</a:t>
            </a:r>
            <a:endParaRPr lang="en-US" sz="1200" dirty="0"/>
          </a:p>
        </p:txBody>
      </p:sp>
      <p:sp>
        <p:nvSpPr>
          <p:cNvPr id="6" name="Shape 4"/>
          <p:cNvSpPr/>
          <p:nvPr/>
        </p:nvSpPr>
        <p:spPr>
          <a:xfrm>
            <a:off x="457200" y="2212848"/>
            <a:ext cx="2560320" cy="1005840"/>
          </a:xfrm>
          <a:prstGeom prst="roundRect">
            <a:avLst>
              <a:gd name="adj" fmla="val 10909"/>
            </a:avLst>
          </a:prstGeom>
          <a:solidFill>
            <a:srgbClr val="F2EAF0"/>
          </a:solidFill>
          <a:ln w="12700">
            <a:solidFill>
              <a:srgbClr val="E5D0DC"/>
            </a:solidFill>
            <a:prstDash val="solid"/>
          </a:ln>
        </p:spPr>
      </p:sp>
      <p:sp>
        <p:nvSpPr>
          <p:cNvPr id="7" name="Text 5"/>
          <p:cNvSpPr txBox="1"/>
          <p:nvPr/>
        </p:nvSpPr>
        <p:spPr>
          <a:xfrm>
            <a:off x="594360" y="2322576"/>
            <a:ext cx="2286000" cy="457200"/>
          </a:xfrm>
          <a:prstGeom prst="rect">
            <a:avLst/>
          </a:prstGeom>
          <a:noFill/>
          <a:ln/>
        </p:spPr>
        <p:txBody>
          <a:bodyPr wrap="square" rtlCol="0" anchor="ctr"/>
          <a:lstStyle/>
          <a:p>
            <a:pPr indent="0" marL="0">
              <a:buNone/>
            </a:pPr>
            <a:r>
              <a:rPr lang="en-US" sz="2200" b="1" dirty="0">
                <a:solidFill>
                  <a:srgbClr val="8B1E3F"/>
                </a:solidFill>
                <a:latin typeface="Georgia" pitchFamily="34" charset="0"/>
                <a:ea typeface="Georgia" pitchFamily="34" charset="-122"/>
                <a:cs typeface="Georgia" pitchFamily="34" charset="-120"/>
              </a:rPr>
              <a:t>2</a:t>
            </a:r>
            <a:endParaRPr lang="en-US" sz="2200" dirty="0"/>
          </a:p>
        </p:txBody>
      </p:sp>
      <p:sp>
        <p:nvSpPr>
          <p:cNvPr id="8" name="Text 6"/>
          <p:cNvSpPr txBox="1"/>
          <p:nvPr/>
        </p:nvSpPr>
        <p:spPr>
          <a:xfrm>
            <a:off x="594360" y="2807208"/>
            <a:ext cx="2286000" cy="320040"/>
          </a:xfrm>
          <a:prstGeom prst="rect">
            <a:avLst/>
          </a:prstGeom>
          <a:noFill/>
          <a:ln/>
        </p:spPr>
        <p:txBody>
          <a:bodyPr wrap="square" rtlCol="0" anchor="ctr"/>
          <a:lstStyle/>
          <a:p>
            <a:pPr indent="0" marL="0">
              <a:buNone/>
            </a:pPr>
            <a:r>
              <a:rPr lang="en-US" sz="900" dirty="0">
                <a:solidFill>
                  <a:srgbClr val="6D3B52"/>
                </a:solidFill>
              </a:rPr>
              <a:t>Classes: Benign / Malignant</a:t>
            </a:r>
            <a:endParaRPr lang="en-US" sz="900" dirty="0"/>
          </a:p>
        </p:txBody>
      </p:sp>
      <p:sp>
        <p:nvSpPr>
          <p:cNvPr id="9" name="Shape 7"/>
          <p:cNvSpPr/>
          <p:nvPr/>
        </p:nvSpPr>
        <p:spPr>
          <a:xfrm>
            <a:off x="3291840" y="2212848"/>
            <a:ext cx="2560320" cy="1005840"/>
          </a:xfrm>
          <a:prstGeom prst="roundRect">
            <a:avLst>
              <a:gd name="adj" fmla="val 10909"/>
            </a:avLst>
          </a:prstGeom>
          <a:solidFill>
            <a:srgbClr val="F2EAF0"/>
          </a:solidFill>
          <a:ln w="12700">
            <a:solidFill>
              <a:srgbClr val="E5D0DC"/>
            </a:solidFill>
            <a:prstDash val="solid"/>
          </a:ln>
        </p:spPr>
      </p:sp>
      <p:sp>
        <p:nvSpPr>
          <p:cNvPr id="10" name="Text 8"/>
          <p:cNvSpPr txBox="1"/>
          <p:nvPr/>
        </p:nvSpPr>
        <p:spPr>
          <a:xfrm>
            <a:off x="3429000" y="2322576"/>
            <a:ext cx="2286000" cy="457200"/>
          </a:xfrm>
          <a:prstGeom prst="rect">
            <a:avLst/>
          </a:prstGeom>
          <a:noFill/>
          <a:ln/>
        </p:spPr>
        <p:txBody>
          <a:bodyPr wrap="square" rtlCol="0" anchor="ctr"/>
          <a:lstStyle/>
          <a:p>
            <a:pPr indent="0" marL="0">
              <a:buNone/>
            </a:pPr>
            <a:r>
              <a:rPr lang="en-US" sz="2200" b="1" dirty="0">
                <a:solidFill>
                  <a:srgbClr val="8B1E3F"/>
                </a:solidFill>
                <a:latin typeface="Georgia" pitchFamily="34" charset="0"/>
                <a:ea typeface="Georgia" pitchFamily="34" charset="-122"/>
                <a:cs typeface="Georgia" pitchFamily="34" charset="-120"/>
              </a:rPr>
              <a:t>11,888</a:t>
            </a:r>
            <a:endParaRPr lang="en-US" sz="2200" dirty="0"/>
          </a:p>
        </p:txBody>
      </p:sp>
      <p:sp>
        <p:nvSpPr>
          <p:cNvPr id="11" name="Text 9"/>
          <p:cNvSpPr txBox="1"/>
          <p:nvPr/>
        </p:nvSpPr>
        <p:spPr>
          <a:xfrm>
            <a:off x="3429000" y="2807208"/>
            <a:ext cx="2286000" cy="320040"/>
          </a:xfrm>
          <a:prstGeom prst="rect">
            <a:avLst/>
          </a:prstGeom>
          <a:noFill/>
          <a:ln/>
        </p:spPr>
        <p:txBody>
          <a:bodyPr wrap="square" rtlCol="0" anchor="ctr"/>
          <a:lstStyle/>
          <a:p>
            <a:pPr indent="0" marL="0">
              <a:buNone/>
            </a:pPr>
            <a:r>
              <a:rPr lang="en-US" sz="900" dirty="0">
                <a:solidFill>
                  <a:srgbClr val="6D3B52"/>
                </a:solidFill>
              </a:rPr>
              <a:t>Total dermoscopic images</a:t>
            </a:r>
            <a:endParaRPr lang="en-US" sz="900" dirty="0"/>
          </a:p>
        </p:txBody>
      </p:sp>
      <p:sp>
        <p:nvSpPr>
          <p:cNvPr id="12" name="Shape 10"/>
          <p:cNvSpPr/>
          <p:nvPr/>
        </p:nvSpPr>
        <p:spPr>
          <a:xfrm>
            <a:off x="6126480" y="2212848"/>
            <a:ext cx="2560320" cy="1005840"/>
          </a:xfrm>
          <a:prstGeom prst="roundRect">
            <a:avLst>
              <a:gd name="adj" fmla="val 10909"/>
            </a:avLst>
          </a:prstGeom>
          <a:solidFill>
            <a:srgbClr val="F2EAF0"/>
          </a:solidFill>
          <a:ln w="12700">
            <a:solidFill>
              <a:srgbClr val="E5D0DC"/>
            </a:solidFill>
            <a:prstDash val="solid"/>
          </a:ln>
        </p:spPr>
      </p:sp>
      <p:sp>
        <p:nvSpPr>
          <p:cNvPr id="13" name="Text 11"/>
          <p:cNvSpPr txBox="1"/>
          <p:nvPr/>
        </p:nvSpPr>
        <p:spPr>
          <a:xfrm>
            <a:off x="6263640" y="2322576"/>
            <a:ext cx="2286000" cy="457200"/>
          </a:xfrm>
          <a:prstGeom prst="rect">
            <a:avLst/>
          </a:prstGeom>
          <a:noFill/>
          <a:ln/>
        </p:spPr>
        <p:txBody>
          <a:bodyPr wrap="square" rtlCol="0" anchor="ctr"/>
          <a:lstStyle/>
          <a:p>
            <a:pPr indent="0" marL="0">
              <a:buNone/>
            </a:pPr>
            <a:r>
              <a:rPr lang="en-US" sz="2200" b="1" dirty="0">
                <a:solidFill>
                  <a:srgbClr val="8B1E3F"/>
                </a:solidFill>
                <a:latin typeface="Georgia" pitchFamily="34" charset="0"/>
                <a:ea typeface="Georgia" pitchFamily="34" charset="-122"/>
                <a:cs typeface="Georgia" pitchFamily="34" charset="-120"/>
              </a:rPr>
              <a:t>Binary</a:t>
            </a:r>
            <a:endParaRPr lang="en-US" sz="2200" dirty="0"/>
          </a:p>
        </p:txBody>
      </p:sp>
      <p:sp>
        <p:nvSpPr>
          <p:cNvPr id="14" name="Text 12"/>
          <p:cNvSpPr txBox="1"/>
          <p:nvPr/>
        </p:nvSpPr>
        <p:spPr>
          <a:xfrm>
            <a:off x="6263640" y="2807208"/>
            <a:ext cx="2286000" cy="320040"/>
          </a:xfrm>
          <a:prstGeom prst="rect">
            <a:avLst/>
          </a:prstGeom>
          <a:noFill/>
          <a:ln/>
        </p:spPr>
        <p:txBody>
          <a:bodyPr wrap="square" rtlCol="0" anchor="ctr"/>
          <a:lstStyle/>
          <a:p>
            <a:pPr indent="0" marL="0">
              <a:buNone/>
            </a:pPr>
            <a:r>
              <a:rPr lang="en-US" sz="900" dirty="0">
                <a:solidFill>
                  <a:srgbClr val="6D3B52"/>
                </a:solidFill>
              </a:rPr>
              <a:t>Image classification task</a:t>
            </a:r>
            <a:endParaRPr lang="en-US" sz="900" dirty="0"/>
          </a:p>
        </p:txBody>
      </p:sp>
      <p:sp>
        <p:nvSpPr>
          <p:cNvPr id="15" name="Shape 13"/>
          <p:cNvSpPr/>
          <p:nvPr/>
        </p:nvSpPr>
        <p:spPr>
          <a:xfrm>
            <a:off x="457200" y="3456432"/>
            <a:ext cx="8229600" cy="502920"/>
          </a:xfrm>
          <a:prstGeom prst="roundRect">
            <a:avLst>
              <a:gd name="adj" fmla="val 14545"/>
            </a:avLst>
          </a:prstGeom>
          <a:solidFill>
            <a:srgbClr val="F2EAF0"/>
          </a:solidFill>
          <a:ln w="12700">
            <a:solidFill>
              <a:srgbClr val="E5D0DC"/>
            </a:solidFill>
            <a:prstDash val="solid"/>
          </a:ln>
        </p:spPr>
      </p:sp>
      <p:sp>
        <p:nvSpPr>
          <p:cNvPr id="16" name="Text 14"/>
          <p:cNvSpPr txBox="1"/>
          <p:nvPr/>
        </p:nvSpPr>
        <p:spPr>
          <a:xfrm>
            <a:off x="594360" y="3520440"/>
            <a:ext cx="7955280" cy="347472"/>
          </a:xfrm>
          <a:prstGeom prst="rect">
            <a:avLst/>
          </a:prstGeom>
          <a:noFill/>
          <a:ln/>
        </p:spPr>
        <p:txBody>
          <a:bodyPr wrap="square" rtlCol="0" anchor="ctr"/>
          <a:lstStyle/>
          <a:p>
            <a:pPr indent="0" marL="0">
              <a:buNone/>
            </a:pPr>
            <a:r>
              <a:rPr lang="en-US" sz="1000" dirty="0">
                <a:solidFill>
                  <a:srgbClr val="6D3B52"/>
                </a:solidFill>
              </a:rPr>
              <a:t>⚠  Disclaimer: this project was built for educational purposes and is not intended for clinical diagnosis.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DFBFC"/>
          </a:solidFill>
          <a:ln/>
        </p:spPr>
      </p:sp>
      <p:sp>
        <p:nvSpPr>
          <p:cNvPr id="3" name="Shape 1"/>
          <p:cNvSpPr/>
          <p:nvPr/>
        </p:nvSpPr>
        <p:spPr>
          <a:xfrm>
            <a:off x="0" y="0"/>
            <a:ext cx="3840480" cy="5143500"/>
          </a:xfrm>
          <a:prstGeom prst="rect">
            <a:avLst/>
          </a:prstGeom>
          <a:solidFill>
            <a:srgbClr val="8B1E3F"/>
          </a:solidFill>
          <a:ln/>
        </p:spPr>
      </p:sp>
      <p:sp>
        <p:nvSpPr>
          <p:cNvPr id="4" name="Text 2"/>
          <p:cNvSpPr txBox="1"/>
          <p:nvPr/>
        </p:nvSpPr>
        <p:spPr>
          <a:xfrm>
            <a:off x="365760" y="320040"/>
            <a:ext cx="3200400" cy="201168"/>
          </a:xfrm>
          <a:prstGeom prst="rect">
            <a:avLst/>
          </a:prstGeom>
          <a:noFill/>
          <a:ln/>
        </p:spPr>
        <p:txBody>
          <a:bodyPr wrap="square" rtlCol="0" anchor="ctr"/>
          <a:lstStyle/>
          <a:p>
            <a:pPr indent="0" marL="0">
              <a:buNone/>
            </a:pPr>
            <a:r>
              <a:rPr lang="en-US" sz="800" b="1" spc="300" kern="0" dirty="0">
                <a:solidFill>
                  <a:srgbClr val="F8A5C2"/>
                </a:solidFill>
              </a:rPr>
              <a:t>THE DATA</a:t>
            </a:r>
            <a:endParaRPr lang="en-US" sz="800" dirty="0"/>
          </a:p>
        </p:txBody>
      </p:sp>
      <p:sp>
        <p:nvSpPr>
          <p:cNvPr id="5" name="Text 3"/>
          <p:cNvSpPr txBox="1"/>
          <p:nvPr/>
        </p:nvSpPr>
        <p:spPr>
          <a:xfrm>
            <a:off x="365760" y="566928"/>
            <a:ext cx="3200400" cy="10058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ISIC Melanoma</a:t>
            </a:r>
            <a:endParaRPr lang="en-US" sz="2600" dirty="0"/>
          </a:p>
          <a:p>
            <a:pPr indent="0" marL="0">
              <a:buNone/>
            </a:pPr>
            <a:r>
              <a:rPr lang="en-US" sz="2600" b="1" dirty="0">
                <a:solidFill>
                  <a:srgbClr val="FFFFFF"/>
                </a:solidFill>
                <a:latin typeface="Georgia" pitchFamily="34" charset="0"/>
                <a:ea typeface="Georgia" pitchFamily="34" charset="-122"/>
                <a:cs typeface="Georgia" pitchFamily="34" charset="-120"/>
              </a:rPr>
              <a:t>Dataset</a:t>
            </a:r>
            <a:endParaRPr lang="en-US" sz="2600" dirty="0"/>
          </a:p>
        </p:txBody>
      </p:sp>
      <p:sp>
        <p:nvSpPr>
          <p:cNvPr id="6" name="Text 4"/>
          <p:cNvSpPr txBox="1"/>
          <p:nvPr/>
        </p:nvSpPr>
        <p:spPr>
          <a:xfrm>
            <a:off x="365760" y="1664208"/>
            <a:ext cx="3108960" cy="1005840"/>
          </a:xfrm>
          <a:prstGeom prst="rect">
            <a:avLst/>
          </a:prstGeom>
          <a:noFill/>
          <a:ln/>
        </p:spPr>
        <p:txBody>
          <a:bodyPr wrap="square" rtlCol="0" anchor="ctr"/>
          <a:lstStyle/>
          <a:p>
            <a:pPr indent="0" marL="0">
              <a:lnSpc>
                <a:spcPct val="150000"/>
              </a:lnSpc>
              <a:buNone/>
            </a:pPr>
            <a:r>
              <a:rPr lang="en-US" sz="1100" dirty="0">
                <a:solidFill>
                  <a:srgbClr val="F0D0DC"/>
                </a:solidFill>
              </a:rPr>
              <a:t>11,888 dermoscopic images across two classes. A 70/15/15 split maximizes training data while maintaining reliable evaluation sets.</a:t>
            </a:r>
            <a:endParaRPr lang="en-US" sz="1100" dirty="0"/>
          </a:p>
        </p:txBody>
      </p:sp>
      <p:sp>
        <p:nvSpPr>
          <p:cNvPr id="7" name="Shape 5"/>
          <p:cNvSpPr/>
          <p:nvPr/>
        </p:nvSpPr>
        <p:spPr>
          <a:xfrm>
            <a:off x="365760" y="2834640"/>
            <a:ext cx="1097280" cy="256032"/>
          </a:xfrm>
          <a:prstGeom prst="roundRect">
            <a:avLst>
              <a:gd name="adj" fmla="val 50000"/>
            </a:avLst>
          </a:prstGeom>
          <a:solidFill>
            <a:srgbClr val="6D0A2A"/>
          </a:solidFill>
          <a:ln w="12700">
            <a:solidFill>
              <a:srgbClr val="9D2A4A"/>
            </a:solidFill>
            <a:prstDash val="solid"/>
          </a:ln>
        </p:spPr>
      </p:sp>
      <p:sp>
        <p:nvSpPr>
          <p:cNvPr id="8" name="Text 6"/>
          <p:cNvSpPr txBox="1"/>
          <p:nvPr/>
        </p:nvSpPr>
        <p:spPr>
          <a:xfrm>
            <a:off x="402336" y="2862072"/>
            <a:ext cx="1024128" cy="201168"/>
          </a:xfrm>
          <a:prstGeom prst="rect">
            <a:avLst/>
          </a:prstGeom>
          <a:noFill/>
          <a:ln/>
        </p:spPr>
        <p:txBody>
          <a:bodyPr wrap="square" rtlCol="0" anchor="ctr"/>
          <a:lstStyle/>
          <a:p>
            <a:pPr algn="ctr" indent="0" marL="0">
              <a:buNone/>
            </a:pPr>
            <a:r>
              <a:rPr lang="en-US" sz="800" dirty="0">
                <a:solidFill>
                  <a:srgbClr val="F8A5C2"/>
                </a:solidFill>
              </a:rPr>
              <a:t>ISIC Archive</a:t>
            </a:r>
            <a:endParaRPr lang="en-US" sz="800" dirty="0"/>
          </a:p>
        </p:txBody>
      </p:sp>
      <p:sp>
        <p:nvSpPr>
          <p:cNvPr id="9" name="Shape 7"/>
          <p:cNvSpPr/>
          <p:nvPr/>
        </p:nvSpPr>
        <p:spPr>
          <a:xfrm>
            <a:off x="1517904" y="2834640"/>
            <a:ext cx="1097280" cy="256032"/>
          </a:xfrm>
          <a:prstGeom prst="roundRect">
            <a:avLst>
              <a:gd name="adj" fmla="val 50000"/>
            </a:avLst>
          </a:prstGeom>
          <a:solidFill>
            <a:srgbClr val="6D0A2A"/>
          </a:solidFill>
          <a:ln w="12700">
            <a:solidFill>
              <a:srgbClr val="9D2A4A"/>
            </a:solidFill>
            <a:prstDash val="solid"/>
          </a:ln>
        </p:spPr>
      </p:sp>
      <p:sp>
        <p:nvSpPr>
          <p:cNvPr id="10" name="Text 8"/>
          <p:cNvSpPr txBox="1"/>
          <p:nvPr/>
        </p:nvSpPr>
        <p:spPr>
          <a:xfrm>
            <a:off x="1554480" y="2862072"/>
            <a:ext cx="1024128" cy="201168"/>
          </a:xfrm>
          <a:prstGeom prst="rect">
            <a:avLst/>
          </a:prstGeom>
          <a:noFill/>
          <a:ln/>
        </p:spPr>
        <p:txBody>
          <a:bodyPr wrap="square" rtlCol="0" anchor="ctr"/>
          <a:lstStyle/>
          <a:p>
            <a:pPr algn="ctr" indent="0" marL="0">
              <a:buNone/>
            </a:pPr>
            <a:r>
              <a:rPr lang="en-US" sz="800" dirty="0">
                <a:solidFill>
                  <a:srgbClr val="F8A5C2"/>
                </a:solidFill>
              </a:rPr>
              <a:t>RGB Images</a:t>
            </a:r>
            <a:endParaRPr lang="en-US" sz="800" dirty="0"/>
          </a:p>
        </p:txBody>
      </p:sp>
      <p:sp>
        <p:nvSpPr>
          <p:cNvPr id="11" name="Shape 9"/>
          <p:cNvSpPr/>
          <p:nvPr/>
        </p:nvSpPr>
        <p:spPr>
          <a:xfrm>
            <a:off x="2670048" y="2834640"/>
            <a:ext cx="1097280" cy="256032"/>
          </a:xfrm>
          <a:prstGeom prst="roundRect">
            <a:avLst>
              <a:gd name="adj" fmla="val 50000"/>
            </a:avLst>
          </a:prstGeom>
          <a:solidFill>
            <a:srgbClr val="6D0A2A"/>
          </a:solidFill>
          <a:ln w="12700">
            <a:solidFill>
              <a:srgbClr val="9D2A4A"/>
            </a:solidFill>
            <a:prstDash val="solid"/>
          </a:ln>
        </p:spPr>
      </p:sp>
      <p:sp>
        <p:nvSpPr>
          <p:cNvPr id="12" name="Text 10"/>
          <p:cNvSpPr txBox="1"/>
          <p:nvPr/>
        </p:nvSpPr>
        <p:spPr>
          <a:xfrm>
            <a:off x="2706624" y="2862072"/>
            <a:ext cx="1024128" cy="201168"/>
          </a:xfrm>
          <a:prstGeom prst="rect">
            <a:avLst/>
          </a:prstGeom>
          <a:noFill/>
          <a:ln/>
        </p:spPr>
        <p:txBody>
          <a:bodyPr wrap="square" rtlCol="0" anchor="ctr"/>
          <a:lstStyle/>
          <a:p>
            <a:pPr algn="ctr" indent="0" marL="0">
              <a:buNone/>
            </a:pPr>
            <a:r>
              <a:rPr lang="en-US" sz="800" dirty="0">
                <a:solidFill>
                  <a:srgbClr val="F8A5C2"/>
                </a:solidFill>
              </a:rPr>
              <a:t>112×112 px</a:t>
            </a:r>
            <a:endParaRPr lang="en-US" sz="800" dirty="0"/>
          </a:p>
        </p:txBody>
      </p:sp>
      <p:sp>
        <p:nvSpPr>
          <p:cNvPr id="13" name="Shape 11"/>
          <p:cNvSpPr/>
          <p:nvPr/>
        </p:nvSpPr>
        <p:spPr>
          <a:xfrm>
            <a:off x="4114800" y="347472"/>
            <a:ext cx="4754880" cy="310896"/>
          </a:xfrm>
          <a:prstGeom prst="rect">
            <a:avLst/>
          </a:prstGeom>
          <a:solidFill>
            <a:srgbClr val="8B1E3F"/>
          </a:solidFill>
          <a:ln/>
        </p:spPr>
      </p:sp>
      <p:sp>
        <p:nvSpPr>
          <p:cNvPr id="14" name="Text 12"/>
          <p:cNvSpPr txBox="1"/>
          <p:nvPr/>
        </p:nvSpPr>
        <p:spPr>
          <a:xfrm>
            <a:off x="4206240" y="384048"/>
            <a:ext cx="1463040" cy="237744"/>
          </a:xfrm>
          <a:prstGeom prst="rect">
            <a:avLst/>
          </a:prstGeom>
          <a:noFill/>
          <a:ln/>
        </p:spPr>
        <p:txBody>
          <a:bodyPr wrap="square" rtlCol="0" anchor="ctr"/>
          <a:lstStyle/>
          <a:p>
            <a:pPr indent="0" marL="0">
              <a:buNone/>
            </a:pPr>
            <a:r>
              <a:rPr lang="en-US" sz="950" b="1" dirty="0">
                <a:solidFill>
                  <a:srgbClr val="FFFFFF"/>
                </a:solidFill>
              </a:rPr>
              <a:t>Split</a:t>
            </a:r>
            <a:endParaRPr lang="en-US" sz="950" dirty="0"/>
          </a:p>
        </p:txBody>
      </p:sp>
      <p:sp>
        <p:nvSpPr>
          <p:cNvPr id="15" name="Text 13"/>
          <p:cNvSpPr txBox="1"/>
          <p:nvPr/>
        </p:nvSpPr>
        <p:spPr>
          <a:xfrm>
            <a:off x="5760720" y="384048"/>
            <a:ext cx="1463040" cy="237744"/>
          </a:xfrm>
          <a:prstGeom prst="rect">
            <a:avLst/>
          </a:prstGeom>
          <a:noFill/>
          <a:ln/>
        </p:spPr>
        <p:txBody>
          <a:bodyPr wrap="square" rtlCol="0" anchor="ctr"/>
          <a:lstStyle/>
          <a:p>
            <a:pPr indent="0" marL="0">
              <a:buNone/>
            </a:pPr>
            <a:r>
              <a:rPr lang="en-US" sz="950" b="1" dirty="0">
                <a:solidFill>
                  <a:srgbClr val="FFFFFF"/>
                </a:solidFill>
              </a:rPr>
              <a:t>Images</a:t>
            </a:r>
            <a:endParaRPr lang="en-US" sz="950" dirty="0"/>
          </a:p>
        </p:txBody>
      </p:sp>
      <p:sp>
        <p:nvSpPr>
          <p:cNvPr id="16" name="Text 14"/>
          <p:cNvSpPr txBox="1"/>
          <p:nvPr/>
        </p:nvSpPr>
        <p:spPr>
          <a:xfrm>
            <a:off x="7315200" y="384048"/>
            <a:ext cx="1463040" cy="237744"/>
          </a:xfrm>
          <a:prstGeom prst="rect">
            <a:avLst/>
          </a:prstGeom>
          <a:noFill/>
          <a:ln/>
        </p:spPr>
        <p:txBody>
          <a:bodyPr wrap="square" rtlCol="0" anchor="ctr"/>
          <a:lstStyle/>
          <a:p>
            <a:pPr indent="0" marL="0">
              <a:buNone/>
            </a:pPr>
            <a:r>
              <a:rPr lang="en-US" sz="950" b="1" dirty="0">
                <a:solidFill>
                  <a:srgbClr val="FFFFFF"/>
                </a:solidFill>
              </a:rPr>
              <a:t>Batches</a:t>
            </a:r>
            <a:endParaRPr lang="en-US" sz="950" dirty="0"/>
          </a:p>
        </p:txBody>
      </p:sp>
      <p:sp>
        <p:nvSpPr>
          <p:cNvPr id="17" name="Shape 15"/>
          <p:cNvSpPr/>
          <p:nvPr/>
        </p:nvSpPr>
        <p:spPr>
          <a:xfrm>
            <a:off x="4114800" y="658368"/>
            <a:ext cx="4754880" cy="320040"/>
          </a:xfrm>
          <a:prstGeom prst="rect">
            <a:avLst/>
          </a:prstGeom>
          <a:solidFill>
            <a:srgbClr val="FDFBFC"/>
          </a:solidFill>
          <a:ln/>
        </p:spPr>
      </p:sp>
      <p:sp>
        <p:nvSpPr>
          <p:cNvPr id="18" name="Text 16"/>
          <p:cNvSpPr txBox="1"/>
          <p:nvPr/>
        </p:nvSpPr>
        <p:spPr>
          <a:xfrm>
            <a:off x="4206240" y="713232"/>
            <a:ext cx="1463040" cy="219456"/>
          </a:xfrm>
          <a:prstGeom prst="rect">
            <a:avLst/>
          </a:prstGeom>
          <a:noFill/>
          <a:ln/>
        </p:spPr>
        <p:txBody>
          <a:bodyPr wrap="square" rtlCol="0" anchor="ctr"/>
          <a:lstStyle/>
          <a:p>
            <a:pPr indent="0" marL="0">
              <a:buNone/>
            </a:pPr>
            <a:r>
              <a:rPr lang="en-US" sz="1000" dirty="0">
                <a:solidFill>
                  <a:srgbClr val="3D2535"/>
                </a:solidFill>
              </a:rPr>
              <a:t>Training (70%)</a:t>
            </a:r>
            <a:endParaRPr lang="en-US" sz="1000" dirty="0"/>
          </a:p>
        </p:txBody>
      </p:sp>
      <p:sp>
        <p:nvSpPr>
          <p:cNvPr id="19" name="Text 17"/>
          <p:cNvSpPr txBox="1"/>
          <p:nvPr/>
        </p:nvSpPr>
        <p:spPr>
          <a:xfrm>
            <a:off x="5760720" y="713232"/>
            <a:ext cx="1463040" cy="219456"/>
          </a:xfrm>
          <a:prstGeom prst="rect">
            <a:avLst/>
          </a:prstGeom>
          <a:noFill/>
          <a:ln/>
        </p:spPr>
        <p:txBody>
          <a:bodyPr wrap="square" rtlCol="0" anchor="ctr"/>
          <a:lstStyle/>
          <a:p>
            <a:pPr indent="0" marL="0">
              <a:buNone/>
            </a:pPr>
            <a:r>
              <a:rPr lang="en-US" sz="1000" dirty="0">
                <a:solidFill>
                  <a:srgbClr val="3D2535"/>
                </a:solidFill>
              </a:rPr>
              <a:t>8,322</a:t>
            </a:r>
            <a:endParaRPr lang="en-US" sz="1000" dirty="0"/>
          </a:p>
        </p:txBody>
      </p:sp>
      <p:sp>
        <p:nvSpPr>
          <p:cNvPr id="20" name="Text 18"/>
          <p:cNvSpPr txBox="1"/>
          <p:nvPr/>
        </p:nvSpPr>
        <p:spPr>
          <a:xfrm>
            <a:off x="7315200" y="713232"/>
            <a:ext cx="1463040" cy="219456"/>
          </a:xfrm>
          <a:prstGeom prst="rect">
            <a:avLst/>
          </a:prstGeom>
          <a:noFill/>
          <a:ln/>
        </p:spPr>
        <p:txBody>
          <a:bodyPr wrap="square" rtlCol="0" anchor="ctr"/>
          <a:lstStyle/>
          <a:p>
            <a:pPr indent="0" marL="0">
              <a:buNone/>
            </a:pPr>
            <a:r>
              <a:rPr lang="en-US" sz="1000" dirty="0">
                <a:solidFill>
                  <a:srgbClr val="3D2535"/>
                </a:solidFill>
              </a:rPr>
              <a:t>261</a:t>
            </a:r>
            <a:endParaRPr lang="en-US" sz="1000" dirty="0"/>
          </a:p>
        </p:txBody>
      </p:sp>
      <p:sp>
        <p:nvSpPr>
          <p:cNvPr id="21" name="Shape 19"/>
          <p:cNvSpPr/>
          <p:nvPr/>
        </p:nvSpPr>
        <p:spPr>
          <a:xfrm>
            <a:off x="4114800" y="987552"/>
            <a:ext cx="4754880" cy="320040"/>
          </a:xfrm>
          <a:prstGeom prst="rect">
            <a:avLst/>
          </a:prstGeom>
          <a:solidFill>
            <a:srgbClr val="F2EAF0"/>
          </a:solidFill>
          <a:ln/>
        </p:spPr>
      </p:sp>
      <p:sp>
        <p:nvSpPr>
          <p:cNvPr id="22" name="Text 20"/>
          <p:cNvSpPr txBox="1"/>
          <p:nvPr/>
        </p:nvSpPr>
        <p:spPr>
          <a:xfrm>
            <a:off x="4206240" y="1042416"/>
            <a:ext cx="1463040" cy="219456"/>
          </a:xfrm>
          <a:prstGeom prst="rect">
            <a:avLst/>
          </a:prstGeom>
          <a:noFill/>
          <a:ln/>
        </p:spPr>
        <p:txBody>
          <a:bodyPr wrap="square" rtlCol="0" anchor="ctr"/>
          <a:lstStyle/>
          <a:p>
            <a:pPr indent="0" marL="0">
              <a:buNone/>
            </a:pPr>
            <a:r>
              <a:rPr lang="en-US" sz="1000" dirty="0">
                <a:solidFill>
                  <a:srgbClr val="3D2535"/>
                </a:solidFill>
              </a:rPr>
              <a:t>Validation (15%)</a:t>
            </a:r>
            <a:endParaRPr lang="en-US" sz="1000" dirty="0"/>
          </a:p>
        </p:txBody>
      </p:sp>
      <p:sp>
        <p:nvSpPr>
          <p:cNvPr id="23" name="Text 21"/>
          <p:cNvSpPr txBox="1"/>
          <p:nvPr/>
        </p:nvSpPr>
        <p:spPr>
          <a:xfrm>
            <a:off x="5760720" y="1042416"/>
            <a:ext cx="1463040" cy="219456"/>
          </a:xfrm>
          <a:prstGeom prst="rect">
            <a:avLst/>
          </a:prstGeom>
          <a:noFill/>
          <a:ln/>
        </p:spPr>
        <p:txBody>
          <a:bodyPr wrap="square" rtlCol="0" anchor="ctr"/>
          <a:lstStyle/>
          <a:p>
            <a:pPr indent="0" marL="0">
              <a:buNone/>
            </a:pPr>
            <a:r>
              <a:rPr lang="en-US" sz="1000" dirty="0">
                <a:solidFill>
                  <a:srgbClr val="3D2535"/>
                </a:solidFill>
              </a:rPr>
              <a:t>1,783</a:t>
            </a:r>
            <a:endParaRPr lang="en-US" sz="1000" dirty="0"/>
          </a:p>
        </p:txBody>
      </p:sp>
      <p:sp>
        <p:nvSpPr>
          <p:cNvPr id="24" name="Text 22"/>
          <p:cNvSpPr txBox="1"/>
          <p:nvPr/>
        </p:nvSpPr>
        <p:spPr>
          <a:xfrm>
            <a:off x="7315200" y="1042416"/>
            <a:ext cx="1463040" cy="219456"/>
          </a:xfrm>
          <a:prstGeom prst="rect">
            <a:avLst/>
          </a:prstGeom>
          <a:noFill/>
          <a:ln/>
        </p:spPr>
        <p:txBody>
          <a:bodyPr wrap="square" rtlCol="0" anchor="ctr"/>
          <a:lstStyle/>
          <a:p>
            <a:pPr indent="0" marL="0">
              <a:buNone/>
            </a:pPr>
            <a:r>
              <a:rPr lang="en-US" sz="1000" dirty="0">
                <a:solidFill>
                  <a:srgbClr val="3D2535"/>
                </a:solidFill>
              </a:rPr>
              <a:t>56</a:t>
            </a:r>
            <a:endParaRPr lang="en-US" sz="1000" dirty="0"/>
          </a:p>
        </p:txBody>
      </p:sp>
      <p:sp>
        <p:nvSpPr>
          <p:cNvPr id="25" name="Shape 23"/>
          <p:cNvSpPr/>
          <p:nvPr/>
        </p:nvSpPr>
        <p:spPr>
          <a:xfrm>
            <a:off x="4114800" y="1316736"/>
            <a:ext cx="4754880" cy="320040"/>
          </a:xfrm>
          <a:prstGeom prst="rect">
            <a:avLst/>
          </a:prstGeom>
          <a:solidFill>
            <a:srgbClr val="FDFBFC"/>
          </a:solidFill>
          <a:ln/>
        </p:spPr>
      </p:sp>
      <p:sp>
        <p:nvSpPr>
          <p:cNvPr id="26" name="Text 24"/>
          <p:cNvSpPr txBox="1"/>
          <p:nvPr/>
        </p:nvSpPr>
        <p:spPr>
          <a:xfrm>
            <a:off x="4206240" y="1371600"/>
            <a:ext cx="1463040" cy="219456"/>
          </a:xfrm>
          <a:prstGeom prst="rect">
            <a:avLst/>
          </a:prstGeom>
          <a:noFill/>
          <a:ln/>
        </p:spPr>
        <p:txBody>
          <a:bodyPr wrap="square" rtlCol="0" anchor="ctr"/>
          <a:lstStyle/>
          <a:p>
            <a:pPr indent="0" marL="0">
              <a:buNone/>
            </a:pPr>
            <a:r>
              <a:rPr lang="en-US" sz="1000" dirty="0">
                <a:solidFill>
                  <a:srgbClr val="3D2535"/>
                </a:solidFill>
              </a:rPr>
              <a:t>Test (15%)</a:t>
            </a:r>
            <a:endParaRPr lang="en-US" sz="1000" dirty="0"/>
          </a:p>
        </p:txBody>
      </p:sp>
      <p:sp>
        <p:nvSpPr>
          <p:cNvPr id="27" name="Text 25"/>
          <p:cNvSpPr txBox="1"/>
          <p:nvPr/>
        </p:nvSpPr>
        <p:spPr>
          <a:xfrm>
            <a:off x="5760720" y="1371600"/>
            <a:ext cx="1463040" cy="219456"/>
          </a:xfrm>
          <a:prstGeom prst="rect">
            <a:avLst/>
          </a:prstGeom>
          <a:noFill/>
          <a:ln/>
        </p:spPr>
        <p:txBody>
          <a:bodyPr wrap="square" rtlCol="0" anchor="ctr"/>
          <a:lstStyle/>
          <a:p>
            <a:pPr indent="0" marL="0">
              <a:buNone/>
            </a:pPr>
            <a:r>
              <a:rPr lang="en-US" sz="1000" dirty="0">
                <a:solidFill>
                  <a:srgbClr val="3D2535"/>
                </a:solidFill>
              </a:rPr>
              <a:t>1,783</a:t>
            </a:r>
            <a:endParaRPr lang="en-US" sz="1000" dirty="0"/>
          </a:p>
        </p:txBody>
      </p:sp>
      <p:sp>
        <p:nvSpPr>
          <p:cNvPr id="28" name="Text 26"/>
          <p:cNvSpPr txBox="1"/>
          <p:nvPr/>
        </p:nvSpPr>
        <p:spPr>
          <a:xfrm>
            <a:off x="7315200" y="1371600"/>
            <a:ext cx="1463040" cy="219456"/>
          </a:xfrm>
          <a:prstGeom prst="rect">
            <a:avLst/>
          </a:prstGeom>
          <a:noFill/>
          <a:ln/>
        </p:spPr>
        <p:txBody>
          <a:bodyPr wrap="square" rtlCol="0" anchor="ctr"/>
          <a:lstStyle/>
          <a:p>
            <a:pPr indent="0" marL="0">
              <a:buNone/>
            </a:pPr>
            <a:r>
              <a:rPr lang="en-US" sz="1000" dirty="0">
                <a:solidFill>
                  <a:srgbClr val="3D2535"/>
                </a:solidFill>
              </a:rPr>
              <a:t>56</a:t>
            </a:r>
            <a:endParaRPr lang="en-US" sz="1000" dirty="0"/>
          </a:p>
        </p:txBody>
      </p:sp>
      <p:sp>
        <p:nvSpPr>
          <p:cNvPr id="29" name="Shape 27"/>
          <p:cNvSpPr/>
          <p:nvPr/>
        </p:nvSpPr>
        <p:spPr>
          <a:xfrm>
            <a:off x="4114800" y="1755648"/>
            <a:ext cx="4754880" cy="310896"/>
          </a:xfrm>
          <a:prstGeom prst="rect">
            <a:avLst/>
          </a:prstGeom>
          <a:solidFill>
            <a:srgbClr val="8B1E3F"/>
          </a:solidFill>
          <a:ln/>
        </p:spPr>
      </p:sp>
      <p:sp>
        <p:nvSpPr>
          <p:cNvPr id="30" name="Text 28"/>
          <p:cNvSpPr txBox="1"/>
          <p:nvPr/>
        </p:nvSpPr>
        <p:spPr>
          <a:xfrm>
            <a:off x="4206240" y="1792224"/>
            <a:ext cx="2377440" cy="237744"/>
          </a:xfrm>
          <a:prstGeom prst="rect">
            <a:avLst/>
          </a:prstGeom>
          <a:noFill/>
          <a:ln/>
        </p:spPr>
        <p:txBody>
          <a:bodyPr wrap="square" rtlCol="0" anchor="ctr"/>
          <a:lstStyle/>
          <a:p>
            <a:pPr indent="0" marL="0">
              <a:buNone/>
            </a:pPr>
            <a:r>
              <a:rPr lang="en-US" sz="950" b="1" dirty="0">
                <a:solidFill>
                  <a:srgbClr val="FFFFFF"/>
                </a:solidFill>
              </a:rPr>
              <a:t>Preprocessing</a:t>
            </a:r>
            <a:endParaRPr lang="en-US" sz="950" dirty="0"/>
          </a:p>
        </p:txBody>
      </p:sp>
      <p:sp>
        <p:nvSpPr>
          <p:cNvPr id="31" name="Text 29"/>
          <p:cNvSpPr txBox="1"/>
          <p:nvPr/>
        </p:nvSpPr>
        <p:spPr>
          <a:xfrm>
            <a:off x="6675120" y="1792224"/>
            <a:ext cx="2377440" cy="237744"/>
          </a:xfrm>
          <a:prstGeom prst="rect">
            <a:avLst/>
          </a:prstGeom>
          <a:noFill/>
          <a:ln/>
        </p:spPr>
        <p:txBody>
          <a:bodyPr wrap="square" rtlCol="0" anchor="ctr"/>
          <a:lstStyle/>
          <a:p>
            <a:pPr indent="0" marL="0">
              <a:buNone/>
            </a:pPr>
            <a:r>
              <a:rPr lang="en-US" sz="950" b="1" dirty="0">
                <a:solidFill>
                  <a:srgbClr val="FFFFFF"/>
                </a:solidFill>
              </a:rPr>
              <a:t>Detail</a:t>
            </a:r>
            <a:endParaRPr lang="en-US" sz="950" dirty="0"/>
          </a:p>
        </p:txBody>
      </p:sp>
      <p:sp>
        <p:nvSpPr>
          <p:cNvPr id="32" name="Shape 30"/>
          <p:cNvSpPr/>
          <p:nvPr/>
        </p:nvSpPr>
        <p:spPr>
          <a:xfrm>
            <a:off x="4114800" y="2066544"/>
            <a:ext cx="4754880" cy="320040"/>
          </a:xfrm>
          <a:prstGeom prst="rect">
            <a:avLst/>
          </a:prstGeom>
          <a:solidFill>
            <a:srgbClr val="FDFBFC"/>
          </a:solidFill>
          <a:ln/>
        </p:spPr>
      </p:sp>
      <p:sp>
        <p:nvSpPr>
          <p:cNvPr id="33" name="Text 31"/>
          <p:cNvSpPr txBox="1"/>
          <p:nvPr/>
        </p:nvSpPr>
        <p:spPr>
          <a:xfrm>
            <a:off x="4206240" y="2121408"/>
            <a:ext cx="2377440" cy="219456"/>
          </a:xfrm>
          <a:prstGeom prst="rect">
            <a:avLst/>
          </a:prstGeom>
          <a:noFill/>
          <a:ln/>
        </p:spPr>
        <p:txBody>
          <a:bodyPr wrap="square" rtlCol="0" anchor="ctr"/>
          <a:lstStyle/>
          <a:p>
            <a:pPr indent="0" marL="0">
              <a:buNone/>
            </a:pPr>
            <a:r>
              <a:rPr lang="en-US" sz="1000" dirty="0">
                <a:solidFill>
                  <a:srgbClr val="3D2535"/>
                </a:solidFill>
              </a:rPr>
              <a:t>Convert to RGB</a:t>
            </a:r>
            <a:endParaRPr lang="en-US" sz="1000" dirty="0"/>
          </a:p>
        </p:txBody>
      </p:sp>
      <p:sp>
        <p:nvSpPr>
          <p:cNvPr id="34" name="Text 32"/>
          <p:cNvSpPr txBox="1"/>
          <p:nvPr/>
        </p:nvSpPr>
        <p:spPr>
          <a:xfrm>
            <a:off x="6675120" y="2121408"/>
            <a:ext cx="2103120" cy="219456"/>
          </a:xfrm>
          <a:prstGeom prst="rect">
            <a:avLst/>
          </a:prstGeom>
          <a:noFill/>
          <a:ln/>
        </p:spPr>
        <p:txBody>
          <a:bodyPr wrap="square" rtlCol="0" anchor="ctr"/>
          <a:lstStyle/>
          <a:p>
            <a:pPr indent="0" marL="0">
              <a:buNone/>
            </a:pPr>
            <a:r>
              <a:rPr lang="en-US" sz="1000" dirty="0">
                <a:solidFill>
                  <a:srgbClr val="6D3B52"/>
                </a:solidFill>
              </a:rPr>
              <a:t>3-channel input</a:t>
            </a:r>
            <a:endParaRPr lang="en-US" sz="1000" dirty="0"/>
          </a:p>
        </p:txBody>
      </p:sp>
      <p:sp>
        <p:nvSpPr>
          <p:cNvPr id="35" name="Shape 33"/>
          <p:cNvSpPr/>
          <p:nvPr/>
        </p:nvSpPr>
        <p:spPr>
          <a:xfrm>
            <a:off x="4114800" y="2395728"/>
            <a:ext cx="4754880" cy="320040"/>
          </a:xfrm>
          <a:prstGeom prst="rect">
            <a:avLst/>
          </a:prstGeom>
          <a:solidFill>
            <a:srgbClr val="F2EAF0"/>
          </a:solidFill>
          <a:ln/>
        </p:spPr>
      </p:sp>
      <p:sp>
        <p:nvSpPr>
          <p:cNvPr id="36" name="Text 34"/>
          <p:cNvSpPr txBox="1"/>
          <p:nvPr/>
        </p:nvSpPr>
        <p:spPr>
          <a:xfrm>
            <a:off x="4206240" y="2450592"/>
            <a:ext cx="2377440" cy="219456"/>
          </a:xfrm>
          <a:prstGeom prst="rect">
            <a:avLst/>
          </a:prstGeom>
          <a:noFill/>
          <a:ln/>
        </p:spPr>
        <p:txBody>
          <a:bodyPr wrap="square" rtlCol="0" anchor="ctr"/>
          <a:lstStyle/>
          <a:p>
            <a:pPr indent="0" marL="0">
              <a:buNone/>
            </a:pPr>
            <a:r>
              <a:rPr lang="en-US" sz="1000" dirty="0">
                <a:solidFill>
                  <a:srgbClr val="3D2535"/>
                </a:solidFill>
              </a:rPr>
              <a:t>Resize</a:t>
            </a:r>
            <a:endParaRPr lang="en-US" sz="1000" dirty="0"/>
          </a:p>
        </p:txBody>
      </p:sp>
      <p:sp>
        <p:nvSpPr>
          <p:cNvPr id="37" name="Text 35"/>
          <p:cNvSpPr txBox="1"/>
          <p:nvPr/>
        </p:nvSpPr>
        <p:spPr>
          <a:xfrm>
            <a:off x="6675120" y="2450592"/>
            <a:ext cx="2103120" cy="219456"/>
          </a:xfrm>
          <a:prstGeom prst="rect">
            <a:avLst/>
          </a:prstGeom>
          <a:noFill/>
          <a:ln/>
        </p:spPr>
        <p:txBody>
          <a:bodyPr wrap="square" rtlCol="0" anchor="ctr"/>
          <a:lstStyle/>
          <a:p>
            <a:pPr indent="0" marL="0">
              <a:buNone/>
            </a:pPr>
            <a:r>
              <a:rPr lang="en-US" sz="1000" dirty="0">
                <a:solidFill>
                  <a:srgbClr val="6D3B52"/>
                </a:solidFill>
              </a:rPr>
              <a:t>112 × 112 pixels</a:t>
            </a:r>
            <a:endParaRPr lang="en-US" sz="1000" dirty="0"/>
          </a:p>
        </p:txBody>
      </p:sp>
      <p:sp>
        <p:nvSpPr>
          <p:cNvPr id="38" name="Shape 36"/>
          <p:cNvSpPr/>
          <p:nvPr/>
        </p:nvSpPr>
        <p:spPr>
          <a:xfrm>
            <a:off x="4114800" y="2724912"/>
            <a:ext cx="4754880" cy="320040"/>
          </a:xfrm>
          <a:prstGeom prst="rect">
            <a:avLst/>
          </a:prstGeom>
          <a:solidFill>
            <a:srgbClr val="FDFBFC"/>
          </a:solidFill>
          <a:ln/>
        </p:spPr>
      </p:sp>
      <p:sp>
        <p:nvSpPr>
          <p:cNvPr id="39" name="Text 37"/>
          <p:cNvSpPr txBox="1"/>
          <p:nvPr/>
        </p:nvSpPr>
        <p:spPr>
          <a:xfrm>
            <a:off x="4206240" y="2779776"/>
            <a:ext cx="2377440" cy="219456"/>
          </a:xfrm>
          <a:prstGeom prst="rect">
            <a:avLst/>
          </a:prstGeom>
          <a:noFill/>
          <a:ln/>
        </p:spPr>
        <p:txBody>
          <a:bodyPr wrap="square" rtlCol="0" anchor="ctr"/>
          <a:lstStyle/>
          <a:p>
            <a:pPr indent="0" marL="0">
              <a:buNone/>
            </a:pPr>
            <a:r>
              <a:rPr lang="en-US" sz="1000" dirty="0">
                <a:solidFill>
                  <a:srgbClr val="3D2535"/>
                </a:solidFill>
              </a:rPr>
              <a:t>Normalize</a:t>
            </a:r>
            <a:endParaRPr lang="en-US" sz="1000" dirty="0"/>
          </a:p>
        </p:txBody>
      </p:sp>
      <p:sp>
        <p:nvSpPr>
          <p:cNvPr id="40" name="Text 38"/>
          <p:cNvSpPr txBox="1"/>
          <p:nvPr/>
        </p:nvSpPr>
        <p:spPr>
          <a:xfrm>
            <a:off x="6675120" y="2779776"/>
            <a:ext cx="2103120" cy="219456"/>
          </a:xfrm>
          <a:prstGeom prst="rect">
            <a:avLst/>
          </a:prstGeom>
          <a:noFill/>
          <a:ln/>
        </p:spPr>
        <p:txBody>
          <a:bodyPr wrap="square" rtlCol="0" anchor="ctr"/>
          <a:lstStyle/>
          <a:p>
            <a:pPr indent="0" marL="0">
              <a:buNone/>
            </a:pPr>
            <a:r>
              <a:rPr lang="en-US" sz="1000" dirty="0">
                <a:solidFill>
                  <a:srgbClr val="6D3B52"/>
                </a:solidFill>
              </a:rPr>
              <a:t>Pixel values ÷ 255.0</a:t>
            </a:r>
            <a:endParaRPr lang="en-US" sz="1000" dirty="0"/>
          </a:p>
        </p:txBody>
      </p:sp>
      <p:sp>
        <p:nvSpPr>
          <p:cNvPr id="41" name="Shape 39"/>
          <p:cNvSpPr/>
          <p:nvPr/>
        </p:nvSpPr>
        <p:spPr>
          <a:xfrm>
            <a:off x="4114800" y="3054096"/>
            <a:ext cx="4754880" cy="320040"/>
          </a:xfrm>
          <a:prstGeom prst="rect">
            <a:avLst/>
          </a:prstGeom>
          <a:solidFill>
            <a:srgbClr val="F2EAF0"/>
          </a:solidFill>
          <a:ln/>
        </p:spPr>
      </p:sp>
      <p:sp>
        <p:nvSpPr>
          <p:cNvPr id="42" name="Text 40"/>
          <p:cNvSpPr txBox="1"/>
          <p:nvPr/>
        </p:nvSpPr>
        <p:spPr>
          <a:xfrm>
            <a:off x="4206240" y="3108960"/>
            <a:ext cx="2377440" cy="219456"/>
          </a:xfrm>
          <a:prstGeom prst="rect">
            <a:avLst/>
          </a:prstGeom>
          <a:noFill/>
          <a:ln/>
        </p:spPr>
        <p:txBody>
          <a:bodyPr wrap="square" rtlCol="0" anchor="ctr"/>
          <a:lstStyle/>
          <a:p>
            <a:pPr indent="0" marL="0">
              <a:buNone/>
            </a:pPr>
            <a:r>
              <a:rPr lang="en-US" sz="1000" dirty="0">
                <a:solidFill>
                  <a:srgbClr val="3D2535"/>
                </a:solidFill>
              </a:rPr>
              <a:t>Augmentation (train)</a:t>
            </a:r>
            <a:endParaRPr lang="en-US" sz="1000" dirty="0"/>
          </a:p>
        </p:txBody>
      </p:sp>
      <p:sp>
        <p:nvSpPr>
          <p:cNvPr id="43" name="Text 41"/>
          <p:cNvSpPr txBox="1"/>
          <p:nvPr/>
        </p:nvSpPr>
        <p:spPr>
          <a:xfrm>
            <a:off x="6675120" y="3108960"/>
            <a:ext cx="2103120" cy="219456"/>
          </a:xfrm>
          <a:prstGeom prst="rect">
            <a:avLst/>
          </a:prstGeom>
          <a:noFill/>
          <a:ln/>
        </p:spPr>
        <p:txBody>
          <a:bodyPr wrap="square" rtlCol="0" anchor="ctr"/>
          <a:lstStyle/>
          <a:p>
            <a:pPr indent="0" marL="0">
              <a:buNone/>
            </a:pPr>
            <a:r>
              <a:rPr lang="en-US" sz="1000" dirty="0">
                <a:solidFill>
                  <a:srgbClr val="6D3B52"/>
                </a:solidFill>
              </a:rPr>
              <a:t>Flip, rotation, zoom, brightness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DFBFC"/>
          </a:solidFill>
          <a:ln/>
        </p:spPr>
      </p:sp>
      <p:sp>
        <p:nvSpPr>
          <p:cNvPr id="3" name="Text 1"/>
          <p:cNvSpPr txBox="1"/>
          <p:nvPr/>
        </p:nvSpPr>
        <p:spPr>
          <a:xfrm>
            <a:off x="457200" y="256032"/>
            <a:ext cx="8229600" cy="201168"/>
          </a:xfrm>
          <a:prstGeom prst="rect">
            <a:avLst/>
          </a:prstGeom>
          <a:noFill/>
          <a:ln/>
        </p:spPr>
        <p:txBody>
          <a:bodyPr wrap="square" rtlCol="0" anchor="ctr"/>
          <a:lstStyle/>
          <a:p>
            <a:pPr indent="0" marL="0">
              <a:buNone/>
            </a:pPr>
            <a:r>
              <a:rPr lang="en-US" sz="800" b="1" spc="300" kern="0" dirty="0">
                <a:solidFill>
                  <a:srgbClr val="C44569"/>
                </a:solidFill>
              </a:rPr>
              <a:t>EDA HIGHLIGHTS</a:t>
            </a:r>
            <a:endParaRPr lang="en-US" sz="800" dirty="0"/>
          </a:p>
        </p:txBody>
      </p:sp>
      <p:sp>
        <p:nvSpPr>
          <p:cNvPr id="4" name="Text 2"/>
          <p:cNvSpPr txBox="1"/>
          <p:nvPr/>
        </p:nvSpPr>
        <p:spPr>
          <a:xfrm>
            <a:off x="457200" y="502920"/>
            <a:ext cx="8229600" cy="640080"/>
          </a:xfrm>
          <a:prstGeom prst="rect">
            <a:avLst/>
          </a:prstGeom>
          <a:noFill/>
          <a:ln/>
        </p:spPr>
        <p:txBody>
          <a:bodyPr wrap="square" rtlCol="0" anchor="ctr"/>
          <a:lstStyle/>
          <a:p>
            <a:pPr indent="0" marL="0">
              <a:buNone/>
            </a:pPr>
            <a:r>
              <a:rPr lang="en-US" sz="2800" b="1" dirty="0">
                <a:solidFill>
                  <a:srgbClr val="8B1E3F"/>
                </a:solidFill>
                <a:latin typeface="Georgia" pitchFamily="34" charset="0"/>
                <a:ea typeface="Georgia" pitchFamily="34" charset="-122"/>
                <a:cs typeface="Georgia" pitchFamily="34" charset="-120"/>
              </a:rPr>
              <a:t>What the data tells us before training</a:t>
            </a:r>
            <a:endParaRPr lang="en-US" sz="2800" dirty="0"/>
          </a:p>
        </p:txBody>
      </p:sp>
      <p:sp>
        <p:nvSpPr>
          <p:cNvPr id="5" name="Shape 3"/>
          <p:cNvSpPr/>
          <p:nvPr/>
        </p:nvSpPr>
        <p:spPr>
          <a:xfrm>
            <a:off x="457200" y="1234440"/>
            <a:ext cx="2560320" cy="1005840"/>
          </a:xfrm>
          <a:prstGeom prst="roundRect">
            <a:avLst>
              <a:gd name="adj" fmla="val 10909"/>
            </a:avLst>
          </a:prstGeom>
          <a:solidFill>
            <a:srgbClr val="F2EAF0"/>
          </a:solidFill>
          <a:ln w="12700">
            <a:solidFill>
              <a:srgbClr val="E5D0DC"/>
            </a:solidFill>
            <a:prstDash val="solid"/>
          </a:ln>
        </p:spPr>
      </p:sp>
      <p:sp>
        <p:nvSpPr>
          <p:cNvPr id="6" name="Text 4"/>
          <p:cNvSpPr txBox="1"/>
          <p:nvPr/>
        </p:nvSpPr>
        <p:spPr>
          <a:xfrm>
            <a:off x="594360" y="1344168"/>
            <a:ext cx="2286000" cy="457200"/>
          </a:xfrm>
          <a:prstGeom prst="rect">
            <a:avLst/>
          </a:prstGeom>
          <a:noFill/>
          <a:ln/>
        </p:spPr>
        <p:txBody>
          <a:bodyPr wrap="square" rtlCol="0" anchor="ctr"/>
          <a:lstStyle/>
          <a:p>
            <a:pPr indent="0" marL="0">
              <a:buNone/>
            </a:pPr>
            <a:r>
              <a:rPr lang="en-US" sz="2200" b="1" dirty="0">
                <a:solidFill>
                  <a:srgbClr val="8B1E3F"/>
                </a:solidFill>
                <a:latin typeface="Georgia" pitchFamily="34" charset="0"/>
                <a:ea typeface="Georgia" pitchFamily="34" charset="-122"/>
                <a:cs typeface="Georgia" pitchFamily="34" charset="-120"/>
              </a:rPr>
              <a:t>6,289</a:t>
            </a:r>
            <a:endParaRPr lang="en-US" sz="2200" dirty="0"/>
          </a:p>
        </p:txBody>
      </p:sp>
      <p:sp>
        <p:nvSpPr>
          <p:cNvPr id="7" name="Text 5"/>
          <p:cNvSpPr txBox="1"/>
          <p:nvPr/>
        </p:nvSpPr>
        <p:spPr>
          <a:xfrm>
            <a:off x="594360" y="1828800"/>
            <a:ext cx="2286000" cy="320040"/>
          </a:xfrm>
          <a:prstGeom prst="rect">
            <a:avLst/>
          </a:prstGeom>
          <a:noFill/>
          <a:ln/>
        </p:spPr>
        <p:txBody>
          <a:bodyPr wrap="square" rtlCol="0" anchor="ctr"/>
          <a:lstStyle/>
          <a:p>
            <a:pPr indent="0" marL="0">
              <a:buNone/>
            </a:pPr>
            <a:r>
              <a:rPr lang="en-US" sz="900" dirty="0">
                <a:solidFill>
                  <a:srgbClr val="6D3B52"/>
                </a:solidFill>
              </a:rPr>
              <a:t>Benign images (52.9%)</a:t>
            </a:r>
            <a:endParaRPr lang="en-US" sz="900" dirty="0"/>
          </a:p>
        </p:txBody>
      </p:sp>
      <p:sp>
        <p:nvSpPr>
          <p:cNvPr id="8" name="Shape 6"/>
          <p:cNvSpPr/>
          <p:nvPr/>
        </p:nvSpPr>
        <p:spPr>
          <a:xfrm>
            <a:off x="3291840" y="1234440"/>
            <a:ext cx="2560320" cy="1005840"/>
          </a:xfrm>
          <a:prstGeom prst="roundRect">
            <a:avLst>
              <a:gd name="adj" fmla="val 10909"/>
            </a:avLst>
          </a:prstGeom>
          <a:solidFill>
            <a:srgbClr val="F2EAF0"/>
          </a:solidFill>
          <a:ln w="12700">
            <a:solidFill>
              <a:srgbClr val="E5D0DC"/>
            </a:solidFill>
            <a:prstDash val="solid"/>
          </a:ln>
        </p:spPr>
      </p:sp>
      <p:sp>
        <p:nvSpPr>
          <p:cNvPr id="9" name="Text 7"/>
          <p:cNvSpPr txBox="1"/>
          <p:nvPr/>
        </p:nvSpPr>
        <p:spPr>
          <a:xfrm>
            <a:off x="3429000" y="1344168"/>
            <a:ext cx="2286000" cy="457200"/>
          </a:xfrm>
          <a:prstGeom prst="rect">
            <a:avLst/>
          </a:prstGeom>
          <a:noFill/>
          <a:ln/>
        </p:spPr>
        <p:txBody>
          <a:bodyPr wrap="square" rtlCol="0" anchor="ctr"/>
          <a:lstStyle/>
          <a:p>
            <a:pPr indent="0" marL="0">
              <a:buNone/>
            </a:pPr>
            <a:r>
              <a:rPr lang="en-US" sz="2200" b="1" dirty="0">
                <a:solidFill>
                  <a:srgbClr val="8B1E3F"/>
                </a:solidFill>
                <a:latin typeface="Georgia" pitchFamily="34" charset="0"/>
                <a:ea typeface="Georgia" pitchFamily="34" charset="-122"/>
                <a:cs typeface="Georgia" pitchFamily="34" charset="-120"/>
              </a:rPr>
              <a:t>5,601</a:t>
            </a:r>
            <a:endParaRPr lang="en-US" sz="2200" dirty="0"/>
          </a:p>
        </p:txBody>
      </p:sp>
      <p:sp>
        <p:nvSpPr>
          <p:cNvPr id="10" name="Text 8"/>
          <p:cNvSpPr txBox="1"/>
          <p:nvPr/>
        </p:nvSpPr>
        <p:spPr>
          <a:xfrm>
            <a:off x="3429000" y="1828800"/>
            <a:ext cx="2286000" cy="320040"/>
          </a:xfrm>
          <a:prstGeom prst="rect">
            <a:avLst/>
          </a:prstGeom>
          <a:noFill/>
          <a:ln/>
        </p:spPr>
        <p:txBody>
          <a:bodyPr wrap="square" rtlCol="0" anchor="ctr"/>
          <a:lstStyle/>
          <a:p>
            <a:pPr indent="0" marL="0">
              <a:buNone/>
            </a:pPr>
            <a:r>
              <a:rPr lang="en-US" sz="900" dirty="0">
                <a:solidFill>
                  <a:srgbClr val="6D3B52"/>
                </a:solidFill>
              </a:rPr>
              <a:t>Malignant images (47.1%)</a:t>
            </a:r>
            <a:endParaRPr lang="en-US" sz="900" dirty="0"/>
          </a:p>
        </p:txBody>
      </p:sp>
      <p:sp>
        <p:nvSpPr>
          <p:cNvPr id="11" name="Shape 9"/>
          <p:cNvSpPr/>
          <p:nvPr/>
        </p:nvSpPr>
        <p:spPr>
          <a:xfrm>
            <a:off x="6126480" y="1234440"/>
            <a:ext cx="2560320" cy="1005840"/>
          </a:xfrm>
          <a:prstGeom prst="roundRect">
            <a:avLst>
              <a:gd name="adj" fmla="val 10909"/>
            </a:avLst>
          </a:prstGeom>
          <a:solidFill>
            <a:srgbClr val="F2EAF0"/>
          </a:solidFill>
          <a:ln w="12700">
            <a:solidFill>
              <a:srgbClr val="E5D0DC"/>
            </a:solidFill>
            <a:prstDash val="solid"/>
          </a:ln>
        </p:spPr>
      </p:sp>
      <p:sp>
        <p:nvSpPr>
          <p:cNvPr id="12" name="Text 10"/>
          <p:cNvSpPr txBox="1"/>
          <p:nvPr/>
        </p:nvSpPr>
        <p:spPr>
          <a:xfrm>
            <a:off x="6263640" y="1344168"/>
            <a:ext cx="2286000" cy="457200"/>
          </a:xfrm>
          <a:prstGeom prst="rect">
            <a:avLst/>
          </a:prstGeom>
          <a:noFill/>
          <a:ln/>
        </p:spPr>
        <p:txBody>
          <a:bodyPr wrap="square" rtlCol="0" anchor="ctr"/>
          <a:lstStyle/>
          <a:p>
            <a:pPr indent="0" marL="0">
              <a:buNone/>
            </a:pPr>
            <a:r>
              <a:rPr lang="en-US" sz="2200" b="1" dirty="0">
                <a:solidFill>
                  <a:srgbClr val="8B1E3F"/>
                </a:solidFill>
                <a:latin typeface="Georgia" pitchFamily="34" charset="0"/>
                <a:ea typeface="Georgia" pitchFamily="34" charset="-122"/>
                <a:cs typeface="Georgia" pitchFamily="34" charset="-120"/>
              </a:rPr>
              <a:t>Balanced</a:t>
            </a:r>
            <a:endParaRPr lang="en-US" sz="2200" dirty="0"/>
          </a:p>
        </p:txBody>
      </p:sp>
      <p:sp>
        <p:nvSpPr>
          <p:cNvPr id="13" name="Text 11"/>
          <p:cNvSpPr txBox="1"/>
          <p:nvPr/>
        </p:nvSpPr>
        <p:spPr>
          <a:xfrm>
            <a:off x="6263640" y="1828800"/>
            <a:ext cx="2286000" cy="320040"/>
          </a:xfrm>
          <a:prstGeom prst="rect">
            <a:avLst/>
          </a:prstGeom>
          <a:noFill/>
          <a:ln/>
        </p:spPr>
        <p:txBody>
          <a:bodyPr wrap="square" rtlCol="0" anchor="ctr"/>
          <a:lstStyle/>
          <a:p>
            <a:pPr indent="0" marL="0">
              <a:buNone/>
            </a:pPr>
            <a:r>
              <a:rPr lang="en-US" sz="900" dirty="0">
                <a:solidFill>
                  <a:srgbClr val="6D3B52"/>
                </a:solidFill>
              </a:rPr>
              <a:t>Class distribution</a:t>
            </a:r>
            <a:endParaRPr lang="en-US" sz="900" dirty="0"/>
          </a:p>
        </p:txBody>
      </p:sp>
      <p:sp>
        <p:nvSpPr>
          <p:cNvPr id="14" name="Shape 12"/>
          <p:cNvSpPr/>
          <p:nvPr/>
        </p:nvSpPr>
        <p:spPr>
          <a:xfrm>
            <a:off x="457200" y="2514600"/>
            <a:ext cx="256032" cy="256032"/>
          </a:xfrm>
          <a:prstGeom prst="ellipse">
            <a:avLst/>
          </a:prstGeom>
          <a:solidFill>
            <a:srgbClr val="C44569"/>
          </a:solidFill>
          <a:ln/>
        </p:spPr>
      </p:sp>
      <p:sp>
        <p:nvSpPr>
          <p:cNvPr id="15" name="Text 13"/>
          <p:cNvSpPr txBox="1"/>
          <p:nvPr/>
        </p:nvSpPr>
        <p:spPr>
          <a:xfrm>
            <a:off x="475488" y="2523744"/>
            <a:ext cx="219456" cy="201168"/>
          </a:xfrm>
          <a:prstGeom prst="rect">
            <a:avLst/>
          </a:prstGeom>
          <a:noFill/>
          <a:ln/>
        </p:spPr>
        <p:txBody>
          <a:bodyPr wrap="square" rtlCol="0" anchor="ctr"/>
          <a:lstStyle/>
          <a:p>
            <a:pPr algn="ctr" indent="0" marL="0">
              <a:buNone/>
            </a:pPr>
            <a:r>
              <a:rPr lang="en-US" sz="900" b="1" dirty="0">
                <a:solidFill>
                  <a:srgbClr val="FFFFFF"/>
                </a:solidFill>
              </a:rPr>
              <a:t>1</a:t>
            </a:r>
            <a:endParaRPr lang="en-US" sz="900" dirty="0"/>
          </a:p>
        </p:txBody>
      </p:sp>
      <p:sp>
        <p:nvSpPr>
          <p:cNvPr id="16" name="Text 14"/>
          <p:cNvSpPr txBox="1"/>
          <p:nvPr/>
        </p:nvSpPr>
        <p:spPr>
          <a:xfrm>
            <a:off x="804672" y="2487168"/>
            <a:ext cx="7315200" cy="347472"/>
          </a:xfrm>
          <a:prstGeom prst="rect">
            <a:avLst/>
          </a:prstGeom>
          <a:noFill/>
          <a:ln/>
        </p:spPr>
        <p:txBody>
          <a:bodyPr wrap="square" rtlCol="0" anchor="ctr"/>
          <a:lstStyle/>
          <a:p>
            <a:pPr indent="0" marL="0">
              <a:lnSpc>
                <a:spcPct val="135000"/>
              </a:lnSpc>
              <a:buNone/>
            </a:pPr>
            <a:r>
              <a:rPr lang="en-US" sz="1100" b="1" dirty="0">
                <a:solidFill>
                  <a:srgbClr val="8B1E3F"/>
                </a:solidFill>
              </a:rPr>
              <a:t>Visually subtle differences: </a:t>
            </a:r>
            <a:pPr indent="0" marL="0">
              <a:lnSpc>
                <a:spcPct val="135000"/>
              </a:lnSpc>
              <a:buNone/>
            </a:pPr>
            <a:r>
              <a:rPr lang="en-US" sz="1100" dirty="0">
                <a:solidFill>
                  <a:srgbClr val="3D2535"/>
                </a:solidFill>
              </a:rPr>
              <a:t>malignant lesions show irregular borders and uneven colors. A CNN needs deep features — simple rules are insufficient.</a:t>
            </a:r>
            <a:endParaRPr lang="en-US" sz="1100" dirty="0"/>
          </a:p>
        </p:txBody>
      </p:sp>
      <p:sp>
        <p:nvSpPr>
          <p:cNvPr id="17" name="Shape 15"/>
          <p:cNvSpPr/>
          <p:nvPr/>
        </p:nvSpPr>
        <p:spPr>
          <a:xfrm>
            <a:off x="457200" y="2971800"/>
            <a:ext cx="256032" cy="256032"/>
          </a:xfrm>
          <a:prstGeom prst="ellipse">
            <a:avLst/>
          </a:prstGeom>
          <a:solidFill>
            <a:srgbClr val="C44569"/>
          </a:solidFill>
          <a:ln/>
        </p:spPr>
      </p:sp>
      <p:sp>
        <p:nvSpPr>
          <p:cNvPr id="18" name="Text 16"/>
          <p:cNvSpPr txBox="1"/>
          <p:nvPr/>
        </p:nvSpPr>
        <p:spPr>
          <a:xfrm>
            <a:off x="475488" y="2980944"/>
            <a:ext cx="219456" cy="201168"/>
          </a:xfrm>
          <a:prstGeom prst="rect">
            <a:avLst/>
          </a:prstGeom>
          <a:noFill/>
          <a:ln/>
        </p:spPr>
        <p:txBody>
          <a:bodyPr wrap="square" rtlCol="0" anchor="ctr"/>
          <a:lstStyle/>
          <a:p>
            <a:pPr algn="ctr" indent="0" marL="0">
              <a:buNone/>
            </a:pPr>
            <a:r>
              <a:rPr lang="en-US" sz="900" b="1" dirty="0">
                <a:solidFill>
                  <a:srgbClr val="FFFFFF"/>
                </a:solidFill>
              </a:rPr>
              <a:t>2</a:t>
            </a:r>
            <a:endParaRPr lang="en-US" sz="900" dirty="0"/>
          </a:p>
        </p:txBody>
      </p:sp>
      <p:sp>
        <p:nvSpPr>
          <p:cNvPr id="19" name="Text 17"/>
          <p:cNvSpPr txBox="1"/>
          <p:nvPr/>
        </p:nvSpPr>
        <p:spPr>
          <a:xfrm>
            <a:off x="804672" y="2944368"/>
            <a:ext cx="7315200" cy="347472"/>
          </a:xfrm>
          <a:prstGeom prst="rect">
            <a:avLst/>
          </a:prstGeom>
          <a:noFill/>
          <a:ln/>
        </p:spPr>
        <p:txBody>
          <a:bodyPr wrap="square" rtlCol="0" anchor="ctr"/>
          <a:lstStyle/>
          <a:p>
            <a:pPr indent="0" marL="0">
              <a:lnSpc>
                <a:spcPct val="135000"/>
              </a:lnSpc>
              <a:buNone/>
            </a:pPr>
            <a:r>
              <a:rPr lang="en-US" sz="1100" b="1" dirty="0">
                <a:solidFill>
                  <a:srgbClr val="8B1E3F"/>
                </a:solidFill>
              </a:rPr>
              <a:t>Pixel range 0–255: </a:t>
            </a:r>
            <a:pPr indent="0" marL="0">
              <a:lnSpc>
                <a:spcPct val="135000"/>
              </a:lnSpc>
              <a:buNone/>
            </a:pPr>
            <a:r>
              <a:rPr lang="en-US" sz="1100" dirty="0">
                <a:solidFill>
                  <a:srgbClr val="3D2535"/>
                </a:solidFill>
              </a:rPr>
              <a:t>normalization required before training. Applied consistently so raw images stay compatible throughout the pipeline.</a:t>
            </a:r>
            <a:endParaRPr lang="en-US" sz="1100" dirty="0"/>
          </a:p>
        </p:txBody>
      </p:sp>
      <p:sp>
        <p:nvSpPr>
          <p:cNvPr id="20" name="Shape 18"/>
          <p:cNvSpPr/>
          <p:nvPr/>
        </p:nvSpPr>
        <p:spPr>
          <a:xfrm>
            <a:off x="457200" y="3429000"/>
            <a:ext cx="256032" cy="256032"/>
          </a:xfrm>
          <a:prstGeom prst="ellipse">
            <a:avLst/>
          </a:prstGeom>
          <a:solidFill>
            <a:srgbClr val="C44569"/>
          </a:solidFill>
          <a:ln/>
        </p:spPr>
      </p:sp>
      <p:sp>
        <p:nvSpPr>
          <p:cNvPr id="21" name="Text 19"/>
          <p:cNvSpPr txBox="1"/>
          <p:nvPr/>
        </p:nvSpPr>
        <p:spPr>
          <a:xfrm>
            <a:off x="475488" y="3438144"/>
            <a:ext cx="219456" cy="201168"/>
          </a:xfrm>
          <a:prstGeom prst="rect">
            <a:avLst/>
          </a:prstGeom>
          <a:noFill/>
          <a:ln/>
        </p:spPr>
        <p:txBody>
          <a:bodyPr wrap="square" rtlCol="0" anchor="ctr"/>
          <a:lstStyle/>
          <a:p>
            <a:pPr algn="ctr" indent="0" marL="0">
              <a:buNone/>
            </a:pPr>
            <a:r>
              <a:rPr lang="en-US" sz="900" b="1" dirty="0">
                <a:solidFill>
                  <a:srgbClr val="FFFFFF"/>
                </a:solidFill>
              </a:rPr>
              <a:t>3</a:t>
            </a:r>
            <a:endParaRPr lang="en-US" sz="900" dirty="0"/>
          </a:p>
        </p:txBody>
      </p:sp>
      <p:sp>
        <p:nvSpPr>
          <p:cNvPr id="22" name="Text 20"/>
          <p:cNvSpPr txBox="1"/>
          <p:nvPr/>
        </p:nvSpPr>
        <p:spPr>
          <a:xfrm>
            <a:off x="804672" y="3401568"/>
            <a:ext cx="7315200" cy="347472"/>
          </a:xfrm>
          <a:prstGeom prst="rect">
            <a:avLst/>
          </a:prstGeom>
          <a:noFill/>
          <a:ln/>
        </p:spPr>
        <p:txBody>
          <a:bodyPr wrap="square" rtlCol="0" anchor="ctr"/>
          <a:lstStyle/>
          <a:p>
            <a:pPr indent="0" marL="0">
              <a:lnSpc>
                <a:spcPct val="135000"/>
              </a:lnSpc>
              <a:buNone/>
            </a:pPr>
            <a:r>
              <a:rPr lang="en-US" sz="1100" b="1" dirty="0">
                <a:solidFill>
                  <a:srgbClr val="8B1E3F"/>
                </a:solidFill>
              </a:rPr>
              <a:t>Near-balanced classes: </a:t>
            </a:r>
            <a:pPr indent="0" marL="0">
              <a:lnSpc>
                <a:spcPct val="135000"/>
              </a:lnSpc>
              <a:buNone/>
            </a:pPr>
            <a:r>
              <a:rPr lang="en-US" sz="1100" dirty="0">
                <a:solidFill>
                  <a:srgbClr val="3D2535"/>
                </a:solidFill>
              </a:rPr>
              <a:t>accuracy is a meaningful metric here. AUC was tracked alongside to measure separation across all thresholds.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0B10"/>
          </a:solidFill>
          <a:ln/>
        </p:spPr>
      </p:sp>
      <p:sp>
        <p:nvSpPr>
          <p:cNvPr id="3" name="Text 1"/>
          <p:cNvSpPr txBox="1"/>
          <p:nvPr/>
        </p:nvSpPr>
        <p:spPr>
          <a:xfrm>
            <a:off x="457200" y="256032"/>
            <a:ext cx="8229600" cy="201168"/>
          </a:xfrm>
          <a:prstGeom prst="rect">
            <a:avLst/>
          </a:prstGeom>
          <a:noFill/>
          <a:ln/>
        </p:spPr>
        <p:txBody>
          <a:bodyPr wrap="square" rtlCol="0" anchor="ctr"/>
          <a:lstStyle/>
          <a:p>
            <a:pPr indent="0" marL="0">
              <a:buNone/>
            </a:pPr>
            <a:r>
              <a:rPr lang="en-US" sz="800" b="1" spc="300" kern="0" dirty="0">
                <a:solidFill>
                  <a:srgbClr val="C44569"/>
                </a:solidFill>
              </a:rPr>
              <a:t>METHODOLOGY</a:t>
            </a:r>
            <a:endParaRPr lang="en-US" sz="800" dirty="0"/>
          </a:p>
        </p:txBody>
      </p:sp>
      <p:sp>
        <p:nvSpPr>
          <p:cNvPr id="4" name="Text 2"/>
          <p:cNvSpPr txBox="1"/>
          <p:nvPr/>
        </p:nvSpPr>
        <p:spPr>
          <a:xfrm>
            <a:off x="457200" y="502920"/>
            <a:ext cx="8229600" cy="594360"/>
          </a:xfrm>
          <a:prstGeom prst="rect">
            <a:avLst/>
          </a:prstGeom>
          <a:noFill/>
          <a:ln/>
        </p:spPr>
        <p:txBody>
          <a:bodyPr wrap="square" rtlCol="0" anchor="ctr"/>
          <a:lstStyle/>
          <a:p>
            <a:pPr indent="0" marL="0">
              <a:buNone/>
            </a:pPr>
            <a:r>
              <a:rPr lang="en-US" sz="2800" b="1" dirty="0">
                <a:solidFill>
                  <a:srgbClr val="F8A5C2"/>
                </a:solidFill>
                <a:latin typeface="Georgia" pitchFamily="34" charset="0"/>
                <a:ea typeface="Georgia" pitchFamily="34" charset="-122"/>
                <a:cs typeface="Georgia" pitchFamily="34" charset="-120"/>
              </a:rPr>
              <a:t>Three approaches. One winner.</a:t>
            </a:r>
            <a:endParaRPr lang="en-US" sz="2800" dirty="0"/>
          </a:p>
        </p:txBody>
      </p:sp>
      <p:sp>
        <p:nvSpPr>
          <p:cNvPr id="5" name="Shape 3"/>
          <p:cNvSpPr/>
          <p:nvPr/>
        </p:nvSpPr>
        <p:spPr>
          <a:xfrm>
            <a:off x="320040" y="1207008"/>
            <a:ext cx="1463040" cy="566928"/>
          </a:xfrm>
          <a:prstGeom prst="roundRect">
            <a:avLst>
              <a:gd name="adj" fmla="val 12903"/>
            </a:avLst>
          </a:prstGeom>
          <a:solidFill>
            <a:srgbClr val="2A1020"/>
          </a:solidFill>
          <a:ln w="12700">
            <a:solidFill>
              <a:srgbClr val="4D2A3A"/>
            </a:solidFill>
            <a:prstDash val="solid"/>
          </a:ln>
        </p:spPr>
      </p:sp>
      <p:sp>
        <p:nvSpPr>
          <p:cNvPr id="6" name="Text 4"/>
          <p:cNvSpPr txBox="1"/>
          <p:nvPr/>
        </p:nvSpPr>
        <p:spPr>
          <a:xfrm>
            <a:off x="347472" y="1243584"/>
            <a:ext cx="1408176" cy="493776"/>
          </a:xfrm>
          <a:prstGeom prst="rect">
            <a:avLst/>
          </a:prstGeom>
          <a:noFill/>
          <a:ln/>
        </p:spPr>
        <p:txBody>
          <a:bodyPr wrap="square" rtlCol="0" anchor="ctr"/>
          <a:lstStyle/>
          <a:p>
            <a:pPr algn="ctr" indent="0" marL="0">
              <a:buNone/>
            </a:pPr>
            <a:r>
              <a:rPr lang="en-US" sz="900" dirty="0">
                <a:solidFill>
                  <a:srgbClr val="CCAAAA"/>
                </a:solidFill>
              </a:rPr>
              <a:t>Input</a:t>
            </a:r>
            <a:endParaRPr lang="en-US" sz="900" dirty="0"/>
          </a:p>
          <a:p>
            <a:pPr algn="ctr" indent="0" marL="0">
              <a:buNone/>
            </a:pPr>
            <a:r>
              <a:rPr lang="en-US" sz="900" dirty="0">
                <a:solidFill>
                  <a:srgbClr val="CCAAAA"/>
                </a:solidFill>
              </a:rPr>
              <a:t>112×112×3</a:t>
            </a:r>
            <a:endParaRPr lang="en-US" sz="900" dirty="0"/>
          </a:p>
        </p:txBody>
      </p:sp>
      <p:sp>
        <p:nvSpPr>
          <p:cNvPr id="7" name="Text 5"/>
          <p:cNvSpPr txBox="1"/>
          <p:nvPr/>
        </p:nvSpPr>
        <p:spPr>
          <a:xfrm>
            <a:off x="1719072" y="1389888"/>
            <a:ext cx="228600" cy="228600"/>
          </a:xfrm>
          <a:prstGeom prst="rect">
            <a:avLst/>
          </a:prstGeom>
          <a:noFill/>
          <a:ln/>
        </p:spPr>
        <p:txBody>
          <a:bodyPr wrap="square" rtlCol="0" anchor="ctr"/>
          <a:lstStyle/>
          <a:p>
            <a:pPr algn="ctr" indent="0" marL="0">
              <a:buNone/>
            </a:pPr>
            <a:r>
              <a:rPr lang="en-US" sz="1100" dirty="0">
                <a:solidFill>
                  <a:srgbClr val="6D3B52"/>
                </a:solidFill>
              </a:rPr>
              <a:t>→</a:t>
            </a:r>
            <a:endParaRPr lang="en-US" sz="1100" dirty="0"/>
          </a:p>
        </p:txBody>
      </p:sp>
      <p:sp>
        <p:nvSpPr>
          <p:cNvPr id="8" name="Shape 6"/>
          <p:cNvSpPr/>
          <p:nvPr/>
        </p:nvSpPr>
        <p:spPr>
          <a:xfrm>
            <a:off x="2039112" y="1207008"/>
            <a:ext cx="1463040" cy="566928"/>
          </a:xfrm>
          <a:prstGeom prst="roundRect">
            <a:avLst>
              <a:gd name="adj" fmla="val 12903"/>
            </a:avLst>
          </a:prstGeom>
          <a:solidFill>
            <a:srgbClr val="2A1020"/>
          </a:solidFill>
          <a:ln w="12700">
            <a:solidFill>
              <a:srgbClr val="4D2A3A"/>
            </a:solidFill>
            <a:prstDash val="solid"/>
          </a:ln>
        </p:spPr>
      </p:sp>
      <p:sp>
        <p:nvSpPr>
          <p:cNvPr id="9" name="Text 7"/>
          <p:cNvSpPr txBox="1"/>
          <p:nvPr/>
        </p:nvSpPr>
        <p:spPr>
          <a:xfrm>
            <a:off x="2066544" y="1243584"/>
            <a:ext cx="1408176" cy="493776"/>
          </a:xfrm>
          <a:prstGeom prst="rect">
            <a:avLst/>
          </a:prstGeom>
          <a:noFill/>
          <a:ln/>
        </p:spPr>
        <p:txBody>
          <a:bodyPr wrap="square" rtlCol="0" anchor="ctr"/>
          <a:lstStyle/>
          <a:p>
            <a:pPr algn="ctr" indent="0" marL="0">
              <a:buNone/>
            </a:pPr>
            <a:r>
              <a:rPr lang="en-US" sz="900" dirty="0">
                <a:solidFill>
                  <a:srgbClr val="CCAAAA"/>
                </a:solidFill>
              </a:rPr>
              <a:t>Conv2D × 4</a:t>
            </a:r>
            <a:endParaRPr lang="en-US" sz="900" dirty="0"/>
          </a:p>
          <a:p>
            <a:pPr algn="ctr" indent="0" marL="0">
              <a:buNone/>
            </a:pPr>
            <a:r>
              <a:rPr lang="en-US" sz="900" dirty="0">
                <a:solidFill>
                  <a:srgbClr val="CCAAAA"/>
                </a:solidFill>
              </a:rPr>
              <a:t>+ BatchNorm</a:t>
            </a:r>
            <a:endParaRPr lang="en-US" sz="900" dirty="0"/>
          </a:p>
        </p:txBody>
      </p:sp>
      <p:sp>
        <p:nvSpPr>
          <p:cNvPr id="10" name="Text 8"/>
          <p:cNvSpPr txBox="1"/>
          <p:nvPr/>
        </p:nvSpPr>
        <p:spPr>
          <a:xfrm>
            <a:off x="3438144" y="1389888"/>
            <a:ext cx="228600" cy="228600"/>
          </a:xfrm>
          <a:prstGeom prst="rect">
            <a:avLst/>
          </a:prstGeom>
          <a:noFill/>
          <a:ln/>
        </p:spPr>
        <p:txBody>
          <a:bodyPr wrap="square" rtlCol="0" anchor="ctr"/>
          <a:lstStyle/>
          <a:p>
            <a:pPr algn="ctr" indent="0" marL="0">
              <a:buNone/>
            </a:pPr>
            <a:r>
              <a:rPr lang="en-US" sz="1100" dirty="0">
                <a:solidFill>
                  <a:srgbClr val="6D3B52"/>
                </a:solidFill>
              </a:rPr>
              <a:t>→</a:t>
            </a:r>
            <a:endParaRPr lang="en-US" sz="1100" dirty="0"/>
          </a:p>
        </p:txBody>
      </p:sp>
      <p:sp>
        <p:nvSpPr>
          <p:cNvPr id="11" name="Shape 9"/>
          <p:cNvSpPr/>
          <p:nvPr/>
        </p:nvSpPr>
        <p:spPr>
          <a:xfrm>
            <a:off x="3758184" y="1207008"/>
            <a:ext cx="1463040" cy="566928"/>
          </a:xfrm>
          <a:prstGeom prst="roundRect">
            <a:avLst>
              <a:gd name="adj" fmla="val 12903"/>
            </a:avLst>
          </a:prstGeom>
          <a:solidFill>
            <a:srgbClr val="2A1020"/>
          </a:solidFill>
          <a:ln w="12700">
            <a:solidFill>
              <a:srgbClr val="4D2A3A"/>
            </a:solidFill>
            <a:prstDash val="solid"/>
          </a:ln>
        </p:spPr>
      </p:sp>
      <p:sp>
        <p:nvSpPr>
          <p:cNvPr id="12" name="Text 10"/>
          <p:cNvSpPr txBox="1"/>
          <p:nvPr/>
        </p:nvSpPr>
        <p:spPr>
          <a:xfrm>
            <a:off x="3785616" y="1243584"/>
            <a:ext cx="1408176" cy="493776"/>
          </a:xfrm>
          <a:prstGeom prst="rect">
            <a:avLst/>
          </a:prstGeom>
          <a:noFill/>
          <a:ln/>
        </p:spPr>
        <p:txBody>
          <a:bodyPr wrap="square" rtlCol="0" anchor="ctr"/>
          <a:lstStyle/>
          <a:p>
            <a:pPr algn="ctr" indent="0" marL="0">
              <a:buNone/>
            </a:pPr>
            <a:r>
              <a:rPr lang="en-US" sz="900" dirty="0">
                <a:solidFill>
                  <a:srgbClr val="CCAAAA"/>
                </a:solidFill>
              </a:rPr>
              <a:t>GlobalAvg</a:t>
            </a:r>
            <a:endParaRPr lang="en-US" sz="900" dirty="0"/>
          </a:p>
          <a:p>
            <a:pPr algn="ctr" indent="0" marL="0">
              <a:buNone/>
            </a:pPr>
            <a:r>
              <a:rPr lang="en-US" sz="900" dirty="0">
                <a:solidFill>
                  <a:srgbClr val="CCAAAA"/>
                </a:solidFill>
              </a:rPr>
              <a:t>Pooling</a:t>
            </a:r>
            <a:endParaRPr lang="en-US" sz="900" dirty="0"/>
          </a:p>
        </p:txBody>
      </p:sp>
      <p:sp>
        <p:nvSpPr>
          <p:cNvPr id="13" name="Text 11"/>
          <p:cNvSpPr txBox="1"/>
          <p:nvPr/>
        </p:nvSpPr>
        <p:spPr>
          <a:xfrm>
            <a:off x="5157216" y="1389888"/>
            <a:ext cx="228600" cy="228600"/>
          </a:xfrm>
          <a:prstGeom prst="rect">
            <a:avLst/>
          </a:prstGeom>
          <a:noFill/>
          <a:ln/>
        </p:spPr>
        <p:txBody>
          <a:bodyPr wrap="square" rtlCol="0" anchor="ctr"/>
          <a:lstStyle/>
          <a:p>
            <a:pPr algn="ctr" indent="0" marL="0">
              <a:buNone/>
            </a:pPr>
            <a:r>
              <a:rPr lang="en-US" sz="1100" dirty="0">
                <a:solidFill>
                  <a:srgbClr val="6D3B52"/>
                </a:solidFill>
              </a:rPr>
              <a:t>→</a:t>
            </a:r>
            <a:endParaRPr lang="en-US" sz="1100" dirty="0"/>
          </a:p>
        </p:txBody>
      </p:sp>
      <p:sp>
        <p:nvSpPr>
          <p:cNvPr id="14" name="Shape 12"/>
          <p:cNvSpPr/>
          <p:nvPr/>
        </p:nvSpPr>
        <p:spPr>
          <a:xfrm>
            <a:off x="5477256" y="1207008"/>
            <a:ext cx="1463040" cy="566928"/>
          </a:xfrm>
          <a:prstGeom prst="roundRect">
            <a:avLst>
              <a:gd name="adj" fmla="val 12903"/>
            </a:avLst>
          </a:prstGeom>
          <a:solidFill>
            <a:srgbClr val="2A1020"/>
          </a:solidFill>
          <a:ln w="12700">
            <a:solidFill>
              <a:srgbClr val="4D2A3A"/>
            </a:solidFill>
            <a:prstDash val="solid"/>
          </a:ln>
        </p:spPr>
      </p:sp>
      <p:sp>
        <p:nvSpPr>
          <p:cNvPr id="15" name="Text 13"/>
          <p:cNvSpPr txBox="1"/>
          <p:nvPr/>
        </p:nvSpPr>
        <p:spPr>
          <a:xfrm>
            <a:off x="5504688" y="1243584"/>
            <a:ext cx="1408176" cy="493776"/>
          </a:xfrm>
          <a:prstGeom prst="rect">
            <a:avLst/>
          </a:prstGeom>
          <a:noFill/>
          <a:ln/>
        </p:spPr>
        <p:txBody>
          <a:bodyPr wrap="square" rtlCol="0" anchor="ctr"/>
          <a:lstStyle/>
          <a:p>
            <a:pPr algn="ctr" indent="0" marL="0">
              <a:buNone/>
            </a:pPr>
            <a:r>
              <a:rPr lang="en-US" sz="900" dirty="0">
                <a:solidFill>
                  <a:srgbClr val="CCAAAA"/>
                </a:solidFill>
              </a:rPr>
              <a:t>Dense 256</a:t>
            </a:r>
            <a:endParaRPr lang="en-US" sz="900" dirty="0"/>
          </a:p>
          <a:p>
            <a:pPr algn="ctr" indent="0" marL="0">
              <a:buNone/>
            </a:pPr>
            <a:r>
              <a:rPr lang="en-US" sz="900" dirty="0">
                <a:solidFill>
                  <a:srgbClr val="CCAAAA"/>
                </a:solidFill>
              </a:rPr>
              <a:t>+ Dropout</a:t>
            </a:r>
            <a:endParaRPr lang="en-US" sz="900" dirty="0"/>
          </a:p>
        </p:txBody>
      </p:sp>
      <p:sp>
        <p:nvSpPr>
          <p:cNvPr id="16" name="Text 14"/>
          <p:cNvSpPr txBox="1"/>
          <p:nvPr/>
        </p:nvSpPr>
        <p:spPr>
          <a:xfrm>
            <a:off x="6876288" y="1389888"/>
            <a:ext cx="228600" cy="228600"/>
          </a:xfrm>
          <a:prstGeom prst="rect">
            <a:avLst/>
          </a:prstGeom>
          <a:noFill/>
          <a:ln/>
        </p:spPr>
        <p:txBody>
          <a:bodyPr wrap="square" rtlCol="0" anchor="ctr"/>
          <a:lstStyle/>
          <a:p>
            <a:pPr algn="ctr" indent="0" marL="0">
              <a:buNone/>
            </a:pPr>
            <a:r>
              <a:rPr lang="en-US" sz="1100" dirty="0">
                <a:solidFill>
                  <a:srgbClr val="6D3B52"/>
                </a:solidFill>
              </a:rPr>
              <a:t>→</a:t>
            </a:r>
            <a:endParaRPr lang="en-US" sz="1100" dirty="0"/>
          </a:p>
        </p:txBody>
      </p:sp>
      <p:sp>
        <p:nvSpPr>
          <p:cNvPr id="17" name="Shape 15"/>
          <p:cNvSpPr/>
          <p:nvPr/>
        </p:nvSpPr>
        <p:spPr>
          <a:xfrm>
            <a:off x="7196328" y="1207008"/>
            <a:ext cx="1463040" cy="566928"/>
          </a:xfrm>
          <a:prstGeom prst="roundRect">
            <a:avLst>
              <a:gd name="adj" fmla="val 12903"/>
            </a:avLst>
          </a:prstGeom>
          <a:solidFill>
            <a:srgbClr val="2A1020"/>
          </a:solidFill>
          <a:ln w="12700">
            <a:solidFill>
              <a:srgbClr val="4D2A3A"/>
            </a:solidFill>
            <a:prstDash val="solid"/>
          </a:ln>
        </p:spPr>
      </p:sp>
      <p:sp>
        <p:nvSpPr>
          <p:cNvPr id="18" name="Text 16"/>
          <p:cNvSpPr txBox="1"/>
          <p:nvPr/>
        </p:nvSpPr>
        <p:spPr>
          <a:xfrm>
            <a:off x="7223760" y="1243584"/>
            <a:ext cx="1408176" cy="493776"/>
          </a:xfrm>
          <a:prstGeom prst="rect">
            <a:avLst/>
          </a:prstGeom>
          <a:noFill/>
          <a:ln/>
        </p:spPr>
        <p:txBody>
          <a:bodyPr wrap="square" rtlCol="0" anchor="ctr"/>
          <a:lstStyle/>
          <a:p>
            <a:pPr algn="ctr" indent="0" marL="0">
              <a:buNone/>
            </a:pPr>
            <a:r>
              <a:rPr lang="en-US" sz="900" dirty="0">
                <a:solidFill>
                  <a:srgbClr val="CCAAAA"/>
                </a:solidFill>
              </a:rPr>
              <a:t>Sigmoid</a:t>
            </a:r>
            <a:endParaRPr lang="en-US" sz="900" dirty="0"/>
          </a:p>
        </p:txBody>
      </p:sp>
      <p:sp>
        <p:nvSpPr>
          <p:cNvPr id="19" name="Shape 17"/>
          <p:cNvSpPr/>
          <p:nvPr/>
        </p:nvSpPr>
        <p:spPr>
          <a:xfrm>
            <a:off x="457200" y="1993392"/>
            <a:ext cx="274320" cy="274320"/>
          </a:xfrm>
          <a:prstGeom prst="roundRect">
            <a:avLst>
              <a:gd name="adj" fmla="val 50000"/>
            </a:avLst>
          </a:prstGeom>
          <a:solidFill>
            <a:srgbClr val="C44569"/>
          </a:solidFill>
          <a:ln/>
        </p:spPr>
      </p:sp>
      <p:sp>
        <p:nvSpPr>
          <p:cNvPr id="20" name="Text 18"/>
          <p:cNvSpPr txBox="1"/>
          <p:nvPr/>
        </p:nvSpPr>
        <p:spPr>
          <a:xfrm>
            <a:off x="475488" y="2011680"/>
            <a:ext cx="237744" cy="228600"/>
          </a:xfrm>
          <a:prstGeom prst="rect">
            <a:avLst/>
          </a:prstGeom>
          <a:noFill/>
          <a:ln/>
        </p:spPr>
        <p:txBody>
          <a:bodyPr wrap="square" rtlCol="0" anchor="ctr"/>
          <a:lstStyle/>
          <a:p>
            <a:pPr algn="ctr" indent="0" marL="0">
              <a:buNone/>
            </a:pPr>
            <a:r>
              <a:rPr lang="en-US" sz="900" b="1" dirty="0">
                <a:solidFill>
                  <a:srgbClr val="FFFFFF"/>
                </a:solidFill>
              </a:rPr>
              <a:t>1</a:t>
            </a:r>
            <a:endParaRPr lang="en-US" sz="900" dirty="0"/>
          </a:p>
        </p:txBody>
      </p:sp>
      <p:sp>
        <p:nvSpPr>
          <p:cNvPr id="21" name="Text 19"/>
          <p:cNvSpPr txBox="1"/>
          <p:nvPr/>
        </p:nvSpPr>
        <p:spPr>
          <a:xfrm>
            <a:off x="868680" y="1984248"/>
            <a:ext cx="7955280" cy="685800"/>
          </a:xfrm>
          <a:prstGeom prst="rect">
            <a:avLst/>
          </a:prstGeom>
          <a:noFill/>
          <a:ln/>
        </p:spPr>
        <p:txBody>
          <a:bodyPr wrap="square" rtlCol="0" anchor="ctr"/>
          <a:lstStyle/>
          <a:p>
            <a:pPr indent="0" marL="0">
              <a:lnSpc>
                <a:spcPct val="135000"/>
              </a:lnSpc>
              <a:buNone/>
            </a:pPr>
            <a:r>
              <a:rPr lang="en-US" sz="1100" b="1" dirty="0">
                <a:solidFill>
                  <a:srgbClr val="FFFFFF"/>
                </a:solidFill>
              </a:rPr>
              <a:t>CNN from Scratch</a:t>
            </a:r>
            <a:pPr indent="0" marL="0">
              <a:lnSpc>
                <a:spcPct val="135000"/>
              </a:lnSpc>
              <a:buNone/>
            </a:pPr>
            <a:r>
              <a:rPr lang="en-US" sz="1100" dirty="0">
                <a:solidFill>
                  <a:srgbClr val="999999"/>
                </a:solidFill>
              </a:rPr>
              <a:t>— baseline without augmentation. Overfitting appeared after Epoch 8; training accuracy climbed while validation plateaued.</a:t>
            </a:r>
            <a:endParaRPr lang="en-US" sz="1100" dirty="0"/>
          </a:p>
        </p:txBody>
      </p:sp>
      <p:sp>
        <p:nvSpPr>
          <p:cNvPr id="22" name="Shape 20"/>
          <p:cNvSpPr/>
          <p:nvPr/>
        </p:nvSpPr>
        <p:spPr>
          <a:xfrm>
            <a:off x="457200" y="2798064"/>
            <a:ext cx="274320" cy="274320"/>
          </a:xfrm>
          <a:prstGeom prst="roundRect">
            <a:avLst>
              <a:gd name="adj" fmla="val 50000"/>
            </a:avLst>
          </a:prstGeom>
          <a:solidFill>
            <a:srgbClr val="C44569"/>
          </a:solidFill>
          <a:ln/>
        </p:spPr>
      </p:sp>
      <p:sp>
        <p:nvSpPr>
          <p:cNvPr id="23" name="Text 21"/>
          <p:cNvSpPr txBox="1"/>
          <p:nvPr/>
        </p:nvSpPr>
        <p:spPr>
          <a:xfrm>
            <a:off x="475488" y="2816352"/>
            <a:ext cx="237744" cy="228600"/>
          </a:xfrm>
          <a:prstGeom prst="rect">
            <a:avLst/>
          </a:prstGeom>
          <a:noFill/>
          <a:ln/>
        </p:spPr>
        <p:txBody>
          <a:bodyPr wrap="square" rtlCol="0" anchor="ctr"/>
          <a:lstStyle/>
          <a:p>
            <a:pPr algn="ctr" indent="0" marL="0">
              <a:buNone/>
            </a:pPr>
            <a:r>
              <a:rPr lang="en-US" sz="900" b="1" dirty="0">
                <a:solidFill>
                  <a:srgbClr val="FFFFFF"/>
                </a:solidFill>
              </a:rPr>
              <a:t>2</a:t>
            </a:r>
            <a:endParaRPr lang="en-US" sz="900" dirty="0"/>
          </a:p>
        </p:txBody>
      </p:sp>
      <p:sp>
        <p:nvSpPr>
          <p:cNvPr id="24" name="Text 22"/>
          <p:cNvSpPr txBox="1"/>
          <p:nvPr/>
        </p:nvSpPr>
        <p:spPr>
          <a:xfrm>
            <a:off x="868680" y="2788920"/>
            <a:ext cx="7955280" cy="685800"/>
          </a:xfrm>
          <a:prstGeom prst="rect">
            <a:avLst/>
          </a:prstGeom>
          <a:noFill/>
          <a:ln/>
        </p:spPr>
        <p:txBody>
          <a:bodyPr wrap="square" rtlCol="0" anchor="ctr"/>
          <a:lstStyle/>
          <a:p>
            <a:pPr indent="0" marL="0">
              <a:lnSpc>
                <a:spcPct val="135000"/>
              </a:lnSpc>
              <a:buNone/>
            </a:pPr>
            <a:r>
              <a:rPr lang="en-US" sz="1100" b="1" dirty="0">
                <a:solidFill>
                  <a:srgbClr val="F8A5C2"/>
                </a:solidFill>
              </a:rPr>
              <a:t>CNN + Data Augmentation</a:t>
            </a:r>
            <a:pPr indent="0" marL="0">
              <a:lnSpc>
                <a:spcPct val="135000"/>
              </a:lnSpc>
              <a:buNone/>
            </a:pPr>
            <a:r>
              <a:rPr lang="en-US" sz="1100" dirty="0">
                <a:solidFill>
                  <a:srgbClr val="999999"/>
                </a:solidFill>
              </a:rPr>
              <a:t>— same architecture with random flips, rotations, zoom, and brightness. Training/validation gap narrowed. Selected model.</a:t>
            </a:r>
            <a:endParaRPr lang="en-US" sz="1100" dirty="0"/>
          </a:p>
        </p:txBody>
      </p:sp>
      <p:sp>
        <p:nvSpPr>
          <p:cNvPr id="25" name="Shape 23"/>
          <p:cNvSpPr/>
          <p:nvPr/>
        </p:nvSpPr>
        <p:spPr>
          <a:xfrm>
            <a:off x="457200" y="3602736"/>
            <a:ext cx="274320" cy="274320"/>
          </a:xfrm>
          <a:prstGeom prst="roundRect">
            <a:avLst>
              <a:gd name="adj" fmla="val 50000"/>
            </a:avLst>
          </a:prstGeom>
          <a:solidFill>
            <a:srgbClr val="C44569"/>
          </a:solidFill>
          <a:ln/>
        </p:spPr>
      </p:sp>
      <p:sp>
        <p:nvSpPr>
          <p:cNvPr id="26" name="Text 24"/>
          <p:cNvSpPr txBox="1"/>
          <p:nvPr/>
        </p:nvSpPr>
        <p:spPr>
          <a:xfrm>
            <a:off x="475488" y="3621024"/>
            <a:ext cx="237744" cy="228600"/>
          </a:xfrm>
          <a:prstGeom prst="rect">
            <a:avLst/>
          </a:prstGeom>
          <a:noFill/>
          <a:ln/>
        </p:spPr>
        <p:txBody>
          <a:bodyPr wrap="square" rtlCol="0" anchor="ctr"/>
          <a:lstStyle/>
          <a:p>
            <a:pPr algn="ctr" indent="0" marL="0">
              <a:buNone/>
            </a:pPr>
            <a:r>
              <a:rPr lang="en-US" sz="900" b="1" dirty="0">
                <a:solidFill>
                  <a:srgbClr val="FFFFFF"/>
                </a:solidFill>
              </a:rPr>
              <a:t>3</a:t>
            </a:r>
            <a:endParaRPr lang="en-US" sz="900" dirty="0"/>
          </a:p>
        </p:txBody>
      </p:sp>
      <p:sp>
        <p:nvSpPr>
          <p:cNvPr id="27" name="Text 25"/>
          <p:cNvSpPr txBox="1"/>
          <p:nvPr/>
        </p:nvSpPr>
        <p:spPr>
          <a:xfrm>
            <a:off x="868680" y="3593592"/>
            <a:ext cx="7955280" cy="685800"/>
          </a:xfrm>
          <a:prstGeom prst="rect">
            <a:avLst/>
          </a:prstGeom>
          <a:noFill/>
          <a:ln/>
        </p:spPr>
        <p:txBody>
          <a:bodyPr wrap="square" rtlCol="0" anchor="ctr"/>
          <a:lstStyle/>
          <a:p>
            <a:pPr indent="0" marL="0">
              <a:lnSpc>
                <a:spcPct val="135000"/>
              </a:lnSpc>
              <a:buNone/>
            </a:pPr>
            <a:r>
              <a:rPr lang="en-US" sz="1100" b="1" dirty="0">
                <a:solidFill>
                  <a:srgbClr val="FFFFFF"/>
                </a:solidFill>
              </a:rPr>
              <a:t>MobileNetV2 (frozen)</a:t>
            </a:r>
            <a:pPr indent="0" marL="0">
              <a:lnSpc>
                <a:spcPct val="135000"/>
              </a:lnSpc>
              <a:buNone/>
            </a:pPr>
            <a:r>
              <a:rPr lang="en-US" sz="1100" dirty="0">
                <a:solidFill>
                  <a:srgbClr val="999999"/>
                </a:solidFill>
              </a:rPr>
              <a:t>— ImageNet pretrained, frozen base, new classification head. Lower test performance; fine-tuning identified as future work.</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DFBFC"/>
          </a:solidFill>
          <a:ln/>
        </p:spPr>
      </p:sp>
      <p:sp>
        <p:nvSpPr>
          <p:cNvPr id="3" name="Text 1"/>
          <p:cNvSpPr txBox="1"/>
          <p:nvPr/>
        </p:nvSpPr>
        <p:spPr>
          <a:xfrm>
            <a:off x="457200" y="256032"/>
            <a:ext cx="8229600" cy="201168"/>
          </a:xfrm>
          <a:prstGeom prst="rect">
            <a:avLst/>
          </a:prstGeom>
          <a:noFill/>
          <a:ln/>
        </p:spPr>
        <p:txBody>
          <a:bodyPr wrap="square" rtlCol="0" anchor="ctr"/>
          <a:lstStyle/>
          <a:p>
            <a:pPr indent="0" marL="0">
              <a:buNone/>
            </a:pPr>
            <a:r>
              <a:rPr lang="en-US" sz="800" b="1" spc="300" kern="0" dirty="0">
                <a:solidFill>
                  <a:srgbClr val="C44569"/>
                </a:solidFill>
              </a:rPr>
              <a:t>RESULTS</a:t>
            </a:r>
            <a:endParaRPr lang="en-US" sz="800" dirty="0"/>
          </a:p>
        </p:txBody>
      </p:sp>
      <p:sp>
        <p:nvSpPr>
          <p:cNvPr id="4" name="Text 2"/>
          <p:cNvSpPr txBox="1"/>
          <p:nvPr/>
        </p:nvSpPr>
        <p:spPr>
          <a:xfrm>
            <a:off x="457200" y="502920"/>
            <a:ext cx="8229600" cy="640080"/>
          </a:xfrm>
          <a:prstGeom prst="rect">
            <a:avLst/>
          </a:prstGeom>
          <a:noFill/>
          <a:ln/>
        </p:spPr>
        <p:txBody>
          <a:bodyPr wrap="square" rtlCol="0" anchor="ctr"/>
          <a:lstStyle/>
          <a:p>
            <a:pPr indent="0" marL="0">
              <a:buNone/>
            </a:pPr>
            <a:r>
              <a:rPr lang="en-US" sz="2200" b="1" dirty="0">
                <a:solidFill>
                  <a:srgbClr val="8B1E3F"/>
                </a:solidFill>
                <a:latin typeface="Georgia" pitchFamily="34" charset="0"/>
                <a:ea typeface="Georgia" pitchFamily="34" charset="-122"/>
                <a:cs typeface="Georgia" pitchFamily="34" charset="-120"/>
              </a:rPr>
              <a:t>CNN + Augmentation outperformed across all metrics</a:t>
            </a:r>
            <a:endParaRPr lang="en-US" sz="2200" dirty="0"/>
          </a:p>
        </p:txBody>
      </p:sp>
      <p:sp>
        <p:nvSpPr>
          <p:cNvPr id="5" name="Shape 3"/>
          <p:cNvSpPr/>
          <p:nvPr/>
        </p:nvSpPr>
        <p:spPr>
          <a:xfrm>
            <a:off x="457200" y="1280160"/>
            <a:ext cx="8229600" cy="329184"/>
          </a:xfrm>
          <a:prstGeom prst="rect">
            <a:avLst/>
          </a:prstGeom>
          <a:solidFill>
            <a:srgbClr val="8B1E3F"/>
          </a:solidFill>
          <a:ln/>
        </p:spPr>
      </p:sp>
      <p:sp>
        <p:nvSpPr>
          <p:cNvPr id="6" name="Text 4"/>
          <p:cNvSpPr txBox="1"/>
          <p:nvPr/>
        </p:nvSpPr>
        <p:spPr>
          <a:xfrm>
            <a:off x="548640" y="1316736"/>
            <a:ext cx="1920240" cy="256032"/>
          </a:xfrm>
          <a:prstGeom prst="rect">
            <a:avLst/>
          </a:prstGeom>
          <a:noFill/>
          <a:ln/>
        </p:spPr>
        <p:txBody>
          <a:bodyPr wrap="square" rtlCol="0" anchor="ctr"/>
          <a:lstStyle/>
          <a:p>
            <a:pPr indent="0" marL="0">
              <a:buNone/>
            </a:pPr>
            <a:r>
              <a:rPr lang="en-US" sz="1000" b="1" dirty="0">
                <a:solidFill>
                  <a:srgbClr val="FFFFFF"/>
                </a:solidFill>
              </a:rPr>
              <a:t>Model</a:t>
            </a:r>
            <a:endParaRPr lang="en-US" sz="1000" dirty="0"/>
          </a:p>
        </p:txBody>
      </p:sp>
      <p:sp>
        <p:nvSpPr>
          <p:cNvPr id="7" name="Text 5"/>
          <p:cNvSpPr txBox="1"/>
          <p:nvPr/>
        </p:nvSpPr>
        <p:spPr>
          <a:xfrm>
            <a:off x="2560320" y="1316736"/>
            <a:ext cx="1920240" cy="256032"/>
          </a:xfrm>
          <a:prstGeom prst="rect">
            <a:avLst/>
          </a:prstGeom>
          <a:noFill/>
          <a:ln/>
        </p:spPr>
        <p:txBody>
          <a:bodyPr wrap="square" rtlCol="0" anchor="ctr"/>
          <a:lstStyle/>
          <a:p>
            <a:pPr indent="0" marL="0">
              <a:buNone/>
            </a:pPr>
            <a:r>
              <a:rPr lang="en-US" sz="1000" b="1" dirty="0">
                <a:solidFill>
                  <a:srgbClr val="FFFFFF"/>
                </a:solidFill>
              </a:rPr>
              <a:t>Test Accuracy</a:t>
            </a:r>
            <a:endParaRPr lang="en-US" sz="1000" dirty="0"/>
          </a:p>
        </p:txBody>
      </p:sp>
      <p:sp>
        <p:nvSpPr>
          <p:cNvPr id="8" name="Text 6"/>
          <p:cNvSpPr txBox="1"/>
          <p:nvPr/>
        </p:nvSpPr>
        <p:spPr>
          <a:xfrm>
            <a:off x="4572000" y="1316736"/>
            <a:ext cx="1920240" cy="256032"/>
          </a:xfrm>
          <a:prstGeom prst="rect">
            <a:avLst/>
          </a:prstGeom>
          <a:noFill/>
          <a:ln/>
        </p:spPr>
        <p:txBody>
          <a:bodyPr wrap="square" rtlCol="0" anchor="ctr"/>
          <a:lstStyle/>
          <a:p>
            <a:pPr indent="0" marL="0">
              <a:buNone/>
            </a:pPr>
            <a:r>
              <a:rPr lang="en-US" sz="1000" b="1" dirty="0">
                <a:solidFill>
                  <a:srgbClr val="FFFFFF"/>
                </a:solidFill>
              </a:rPr>
              <a:t>Test AUC</a:t>
            </a:r>
            <a:endParaRPr lang="en-US" sz="1000" dirty="0"/>
          </a:p>
        </p:txBody>
      </p:sp>
      <p:sp>
        <p:nvSpPr>
          <p:cNvPr id="9" name="Text 7"/>
          <p:cNvSpPr txBox="1"/>
          <p:nvPr/>
        </p:nvSpPr>
        <p:spPr>
          <a:xfrm>
            <a:off x="6583680" y="1316736"/>
            <a:ext cx="1920240" cy="256032"/>
          </a:xfrm>
          <a:prstGeom prst="rect">
            <a:avLst/>
          </a:prstGeom>
          <a:noFill/>
          <a:ln/>
        </p:spPr>
        <p:txBody>
          <a:bodyPr wrap="square" rtlCol="0" anchor="ctr"/>
          <a:lstStyle/>
          <a:p>
            <a:pPr indent="0" marL="0">
              <a:buNone/>
            </a:pPr>
            <a:r>
              <a:rPr lang="en-US" sz="1000" b="1" dirty="0">
                <a:solidFill>
                  <a:srgbClr val="FFFFFF"/>
                </a:solidFill>
              </a:rPr>
              <a:t>Test Loss</a:t>
            </a:r>
            <a:endParaRPr lang="en-US" sz="1000" dirty="0"/>
          </a:p>
        </p:txBody>
      </p:sp>
      <p:sp>
        <p:nvSpPr>
          <p:cNvPr id="10" name="Shape 8"/>
          <p:cNvSpPr/>
          <p:nvPr/>
        </p:nvSpPr>
        <p:spPr>
          <a:xfrm>
            <a:off x="457200" y="1609344"/>
            <a:ext cx="8229600" cy="338328"/>
          </a:xfrm>
          <a:prstGeom prst="rect">
            <a:avLst/>
          </a:prstGeom>
          <a:solidFill>
            <a:srgbClr val="FDFBFC"/>
          </a:solidFill>
          <a:ln/>
        </p:spPr>
      </p:sp>
      <p:sp>
        <p:nvSpPr>
          <p:cNvPr id="11" name="Text 9"/>
          <p:cNvSpPr txBox="1"/>
          <p:nvPr/>
        </p:nvSpPr>
        <p:spPr>
          <a:xfrm>
            <a:off x="548640" y="1664208"/>
            <a:ext cx="1920240" cy="237744"/>
          </a:xfrm>
          <a:prstGeom prst="rect">
            <a:avLst/>
          </a:prstGeom>
          <a:noFill/>
          <a:ln/>
        </p:spPr>
        <p:txBody>
          <a:bodyPr wrap="square" rtlCol="0" anchor="ctr"/>
          <a:lstStyle/>
          <a:p>
            <a:pPr indent="0" marL="0">
              <a:buNone/>
            </a:pPr>
            <a:r>
              <a:rPr lang="en-US" sz="1000" dirty="0">
                <a:solidFill>
                  <a:srgbClr val="3D2535"/>
                </a:solidFill>
              </a:rPr>
              <a:t>CNN from Scratch</a:t>
            </a:r>
            <a:endParaRPr lang="en-US" sz="1000" dirty="0"/>
          </a:p>
        </p:txBody>
      </p:sp>
      <p:sp>
        <p:nvSpPr>
          <p:cNvPr id="12" name="Text 10"/>
          <p:cNvSpPr txBox="1"/>
          <p:nvPr/>
        </p:nvSpPr>
        <p:spPr>
          <a:xfrm>
            <a:off x="2560320" y="1664208"/>
            <a:ext cx="1920240" cy="237744"/>
          </a:xfrm>
          <a:prstGeom prst="rect">
            <a:avLst/>
          </a:prstGeom>
          <a:noFill/>
          <a:ln/>
        </p:spPr>
        <p:txBody>
          <a:bodyPr wrap="square" rtlCol="0" anchor="ctr"/>
          <a:lstStyle/>
          <a:p>
            <a:pPr indent="0" marL="0">
              <a:buNone/>
            </a:pPr>
            <a:r>
              <a:rPr lang="en-US" sz="1000" dirty="0">
                <a:solidFill>
                  <a:srgbClr val="3D2535"/>
                </a:solidFill>
              </a:rPr>
              <a:t>88.11%</a:t>
            </a:r>
            <a:endParaRPr lang="en-US" sz="1000" dirty="0"/>
          </a:p>
        </p:txBody>
      </p:sp>
      <p:sp>
        <p:nvSpPr>
          <p:cNvPr id="13" name="Text 11"/>
          <p:cNvSpPr txBox="1"/>
          <p:nvPr/>
        </p:nvSpPr>
        <p:spPr>
          <a:xfrm>
            <a:off x="4572000" y="1664208"/>
            <a:ext cx="1920240" cy="237744"/>
          </a:xfrm>
          <a:prstGeom prst="rect">
            <a:avLst/>
          </a:prstGeom>
          <a:noFill/>
          <a:ln/>
        </p:spPr>
        <p:txBody>
          <a:bodyPr wrap="square" rtlCol="0" anchor="ctr"/>
          <a:lstStyle/>
          <a:p>
            <a:pPr indent="0" marL="0">
              <a:buNone/>
            </a:pPr>
            <a:r>
              <a:rPr lang="en-US" sz="1000" dirty="0">
                <a:solidFill>
                  <a:srgbClr val="3D2535"/>
                </a:solidFill>
              </a:rPr>
              <a:t>0.9514</a:t>
            </a:r>
            <a:endParaRPr lang="en-US" sz="1000" dirty="0"/>
          </a:p>
        </p:txBody>
      </p:sp>
      <p:sp>
        <p:nvSpPr>
          <p:cNvPr id="14" name="Text 12"/>
          <p:cNvSpPr txBox="1"/>
          <p:nvPr/>
        </p:nvSpPr>
        <p:spPr>
          <a:xfrm>
            <a:off x="6583680" y="1664208"/>
            <a:ext cx="1920240" cy="237744"/>
          </a:xfrm>
          <a:prstGeom prst="rect">
            <a:avLst/>
          </a:prstGeom>
          <a:noFill/>
          <a:ln/>
        </p:spPr>
        <p:txBody>
          <a:bodyPr wrap="square" rtlCol="0" anchor="ctr"/>
          <a:lstStyle/>
          <a:p>
            <a:pPr indent="0" marL="0">
              <a:buNone/>
            </a:pPr>
            <a:r>
              <a:rPr lang="en-US" sz="1000" dirty="0">
                <a:solidFill>
                  <a:srgbClr val="3D2535"/>
                </a:solidFill>
              </a:rPr>
              <a:t>0.2826</a:t>
            </a:r>
            <a:endParaRPr lang="en-US" sz="1000" dirty="0"/>
          </a:p>
        </p:txBody>
      </p:sp>
      <p:sp>
        <p:nvSpPr>
          <p:cNvPr id="15" name="Shape 13"/>
          <p:cNvSpPr/>
          <p:nvPr/>
        </p:nvSpPr>
        <p:spPr>
          <a:xfrm>
            <a:off x="457200" y="1956816"/>
            <a:ext cx="8229600" cy="338328"/>
          </a:xfrm>
          <a:prstGeom prst="rect">
            <a:avLst/>
          </a:prstGeom>
          <a:solidFill>
            <a:srgbClr val="FFF0F5"/>
          </a:solidFill>
          <a:ln/>
        </p:spPr>
      </p:sp>
      <p:sp>
        <p:nvSpPr>
          <p:cNvPr id="16" name="Text 14"/>
          <p:cNvSpPr txBox="1"/>
          <p:nvPr/>
        </p:nvSpPr>
        <p:spPr>
          <a:xfrm>
            <a:off x="548640" y="2011680"/>
            <a:ext cx="1920240" cy="237744"/>
          </a:xfrm>
          <a:prstGeom prst="rect">
            <a:avLst/>
          </a:prstGeom>
          <a:noFill/>
          <a:ln/>
        </p:spPr>
        <p:txBody>
          <a:bodyPr wrap="square" rtlCol="0" anchor="ctr"/>
          <a:lstStyle/>
          <a:p>
            <a:pPr indent="0" marL="0">
              <a:buNone/>
            </a:pPr>
            <a:r>
              <a:rPr lang="en-US" sz="1000" b="1" dirty="0">
                <a:solidFill>
                  <a:srgbClr val="8B1E3F"/>
                </a:solidFill>
              </a:rPr>
              <a:t>✦ CNN + Augmentation</a:t>
            </a:r>
            <a:endParaRPr lang="en-US" sz="1000" dirty="0"/>
          </a:p>
        </p:txBody>
      </p:sp>
      <p:sp>
        <p:nvSpPr>
          <p:cNvPr id="17" name="Text 15"/>
          <p:cNvSpPr txBox="1"/>
          <p:nvPr/>
        </p:nvSpPr>
        <p:spPr>
          <a:xfrm>
            <a:off x="2560320" y="2011680"/>
            <a:ext cx="1920240" cy="237744"/>
          </a:xfrm>
          <a:prstGeom prst="rect">
            <a:avLst/>
          </a:prstGeom>
          <a:noFill/>
          <a:ln/>
        </p:spPr>
        <p:txBody>
          <a:bodyPr wrap="square" rtlCol="0" anchor="ctr"/>
          <a:lstStyle/>
          <a:p>
            <a:pPr indent="0" marL="0">
              <a:buNone/>
            </a:pPr>
            <a:r>
              <a:rPr lang="en-US" sz="1000" b="1" dirty="0">
                <a:solidFill>
                  <a:srgbClr val="8B1E3F"/>
                </a:solidFill>
              </a:rPr>
              <a:t>88.95%</a:t>
            </a:r>
            <a:endParaRPr lang="en-US" sz="1000" dirty="0"/>
          </a:p>
        </p:txBody>
      </p:sp>
      <p:sp>
        <p:nvSpPr>
          <p:cNvPr id="18" name="Text 16"/>
          <p:cNvSpPr txBox="1"/>
          <p:nvPr/>
        </p:nvSpPr>
        <p:spPr>
          <a:xfrm>
            <a:off x="4572000" y="2011680"/>
            <a:ext cx="1920240" cy="237744"/>
          </a:xfrm>
          <a:prstGeom prst="rect">
            <a:avLst/>
          </a:prstGeom>
          <a:noFill/>
          <a:ln/>
        </p:spPr>
        <p:txBody>
          <a:bodyPr wrap="square" rtlCol="0" anchor="ctr"/>
          <a:lstStyle/>
          <a:p>
            <a:pPr indent="0" marL="0">
              <a:buNone/>
            </a:pPr>
            <a:r>
              <a:rPr lang="en-US" sz="1000" b="1" dirty="0">
                <a:solidFill>
                  <a:srgbClr val="8B1E3F"/>
                </a:solidFill>
              </a:rPr>
              <a:t>0.9579</a:t>
            </a:r>
            <a:endParaRPr lang="en-US" sz="1000" dirty="0"/>
          </a:p>
        </p:txBody>
      </p:sp>
      <p:sp>
        <p:nvSpPr>
          <p:cNvPr id="19" name="Text 17"/>
          <p:cNvSpPr txBox="1"/>
          <p:nvPr/>
        </p:nvSpPr>
        <p:spPr>
          <a:xfrm>
            <a:off x="6583680" y="2011680"/>
            <a:ext cx="1920240" cy="237744"/>
          </a:xfrm>
          <a:prstGeom prst="rect">
            <a:avLst/>
          </a:prstGeom>
          <a:noFill/>
          <a:ln/>
        </p:spPr>
        <p:txBody>
          <a:bodyPr wrap="square" rtlCol="0" anchor="ctr"/>
          <a:lstStyle/>
          <a:p>
            <a:pPr indent="0" marL="0">
              <a:buNone/>
            </a:pPr>
            <a:r>
              <a:rPr lang="en-US" sz="1000" b="1" dirty="0">
                <a:solidFill>
                  <a:srgbClr val="8B1E3F"/>
                </a:solidFill>
              </a:rPr>
              <a:t>0.2632</a:t>
            </a:r>
            <a:endParaRPr lang="en-US" sz="1000" dirty="0"/>
          </a:p>
        </p:txBody>
      </p:sp>
      <p:sp>
        <p:nvSpPr>
          <p:cNvPr id="20" name="Shape 18"/>
          <p:cNvSpPr/>
          <p:nvPr/>
        </p:nvSpPr>
        <p:spPr>
          <a:xfrm>
            <a:off x="457200" y="2304288"/>
            <a:ext cx="8229600" cy="338328"/>
          </a:xfrm>
          <a:prstGeom prst="rect">
            <a:avLst/>
          </a:prstGeom>
          <a:solidFill>
            <a:srgbClr val="FDFBFC"/>
          </a:solidFill>
          <a:ln/>
        </p:spPr>
      </p:sp>
      <p:sp>
        <p:nvSpPr>
          <p:cNvPr id="21" name="Text 19"/>
          <p:cNvSpPr txBox="1"/>
          <p:nvPr/>
        </p:nvSpPr>
        <p:spPr>
          <a:xfrm>
            <a:off x="548640" y="2359152"/>
            <a:ext cx="1920240" cy="237744"/>
          </a:xfrm>
          <a:prstGeom prst="rect">
            <a:avLst/>
          </a:prstGeom>
          <a:noFill/>
          <a:ln/>
        </p:spPr>
        <p:txBody>
          <a:bodyPr wrap="square" rtlCol="0" anchor="ctr"/>
          <a:lstStyle/>
          <a:p>
            <a:pPr indent="0" marL="0">
              <a:buNone/>
            </a:pPr>
            <a:r>
              <a:rPr lang="en-US" sz="1000" dirty="0">
                <a:solidFill>
                  <a:srgbClr val="3D2535"/>
                </a:solidFill>
              </a:rPr>
              <a:t>MobileNetV2 (frozen)</a:t>
            </a:r>
            <a:endParaRPr lang="en-US" sz="1000" dirty="0"/>
          </a:p>
        </p:txBody>
      </p:sp>
      <p:sp>
        <p:nvSpPr>
          <p:cNvPr id="22" name="Text 20"/>
          <p:cNvSpPr txBox="1"/>
          <p:nvPr/>
        </p:nvSpPr>
        <p:spPr>
          <a:xfrm>
            <a:off x="2560320" y="2359152"/>
            <a:ext cx="1920240" cy="237744"/>
          </a:xfrm>
          <a:prstGeom prst="rect">
            <a:avLst/>
          </a:prstGeom>
          <a:noFill/>
          <a:ln/>
        </p:spPr>
        <p:txBody>
          <a:bodyPr wrap="square" rtlCol="0" anchor="ctr"/>
          <a:lstStyle/>
          <a:p>
            <a:pPr indent="0" marL="0">
              <a:buNone/>
            </a:pPr>
            <a:r>
              <a:rPr lang="en-US" sz="1000" dirty="0">
                <a:solidFill>
                  <a:srgbClr val="3D2535"/>
                </a:solidFill>
              </a:rPr>
              <a:t>86.47%</a:t>
            </a:r>
            <a:endParaRPr lang="en-US" sz="1000" dirty="0"/>
          </a:p>
        </p:txBody>
      </p:sp>
      <p:sp>
        <p:nvSpPr>
          <p:cNvPr id="23" name="Text 21"/>
          <p:cNvSpPr txBox="1"/>
          <p:nvPr/>
        </p:nvSpPr>
        <p:spPr>
          <a:xfrm>
            <a:off x="4572000" y="2359152"/>
            <a:ext cx="1920240" cy="237744"/>
          </a:xfrm>
          <a:prstGeom prst="rect">
            <a:avLst/>
          </a:prstGeom>
          <a:noFill/>
          <a:ln/>
        </p:spPr>
        <p:txBody>
          <a:bodyPr wrap="square" rtlCol="0" anchor="ctr"/>
          <a:lstStyle/>
          <a:p>
            <a:pPr indent="0" marL="0">
              <a:buNone/>
            </a:pPr>
            <a:r>
              <a:rPr lang="en-US" sz="1000" dirty="0">
                <a:solidFill>
                  <a:srgbClr val="3D2535"/>
                </a:solidFill>
              </a:rPr>
              <a:t>0.9383</a:t>
            </a:r>
            <a:endParaRPr lang="en-US" sz="1000" dirty="0"/>
          </a:p>
        </p:txBody>
      </p:sp>
      <p:sp>
        <p:nvSpPr>
          <p:cNvPr id="24" name="Text 22"/>
          <p:cNvSpPr txBox="1"/>
          <p:nvPr/>
        </p:nvSpPr>
        <p:spPr>
          <a:xfrm>
            <a:off x="6583680" y="2359152"/>
            <a:ext cx="1920240" cy="237744"/>
          </a:xfrm>
          <a:prstGeom prst="rect">
            <a:avLst/>
          </a:prstGeom>
          <a:noFill/>
          <a:ln/>
        </p:spPr>
        <p:txBody>
          <a:bodyPr wrap="square" rtlCol="0" anchor="ctr"/>
          <a:lstStyle/>
          <a:p>
            <a:pPr indent="0" marL="0">
              <a:buNone/>
            </a:pPr>
            <a:r>
              <a:rPr lang="en-US" sz="1000" dirty="0">
                <a:solidFill>
                  <a:srgbClr val="3D2535"/>
                </a:solidFill>
              </a:rPr>
              <a:t>0.3165</a:t>
            </a:r>
            <a:endParaRPr lang="en-US" sz="1000" dirty="0"/>
          </a:p>
        </p:txBody>
      </p:sp>
      <p:sp>
        <p:nvSpPr>
          <p:cNvPr id="25" name="Shape 23"/>
          <p:cNvSpPr/>
          <p:nvPr/>
        </p:nvSpPr>
        <p:spPr>
          <a:xfrm>
            <a:off x="2286000" y="3108960"/>
            <a:ext cx="5943600" cy="182880"/>
          </a:xfrm>
          <a:prstGeom prst="rect">
            <a:avLst/>
          </a:prstGeom>
          <a:solidFill>
            <a:srgbClr val="F2EAF0"/>
          </a:solidFill>
          <a:ln/>
        </p:spPr>
      </p:sp>
      <p:sp>
        <p:nvSpPr>
          <p:cNvPr id="26" name="Shape 24"/>
          <p:cNvSpPr/>
          <p:nvPr/>
        </p:nvSpPr>
        <p:spPr>
          <a:xfrm>
            <a:off x="2286000" y="3108960"/>
            <a:ext cx="5236906" cy="182880"/>
          </a:xfrm>
          <a:prstGeom prst="rect">
            <a:avLst/>
          </a:prstGeom>
          <a:solidFill>
            <a:srgbClr val="C44569"/>
          </a:solidFill>
          <a:ln/>
        </p:spPr>
      </p:sp>
      <p:sp>
        <p:nvSpPr>
          <p:cNvPr id="27" name="Text 25"/>
          <p:cNvSpPr txBox="1"/>
          <p:nvPr/>
        </p:nvSpPr>
        <p:spPr>
          <a:xfrm>
            <a:off x="457200" y="3072384"/>
            <a:ext cx="1828800" cy="237744"/>
          </a:xfrm>
          <a:prstGeom prst="rect">
            <a:avLst/>
          </a:prstGeom>
          <a:noFill/>
          <a:ln/>
        </p:spPr>
        <p:txBody>
          <a:bodyPr wrap="square" rtlCol="0" anchor="ctr"/>
          <a:lstStyle/>
          <a:p>
            <a:pPr indent="0" marL="0">
              <a:buNone/>
            </a:pPr>
            <a:r>
              <a:rPr lang="en-US" sz="900" dirty="0">
                <a:solidFill>
                  <a:srgbClr val="6D3B52"/>
                </a:solidFill>
              </a:rPr>
              <a:t>CNN from Scratch</a:t>
            </a:r>
            <a:endParaRPr lang="en-US" sz="900" dirty="0"/>
          </a:p>
        </p:txBody>
      </p:sp>
      <p:sp>
        <p:nvSpPr>
          <p:cNvPr id="28" name="Text 26"/>
          <p:cNvSpPr txBox="1"/>
          <p:nvPr/>
        </p:nvSpPr>
        <p:spPr>
          <a:xfrm>
            <a:off x="8321040" y="3072384"/>
            <a:ext cx="731520" cy="237744"/>
          </a:xfrm>
          <a:prstGeom prst="rect">
            <a:avLst/>
          </a:prstGeom>
          <a:noFill/>
          <a:ln/>
        </p:spPr>
        <p:txBody>
          <a:bodyPr wrap="square" rtlCol="0" anchor="ctr"/>
          <a:lstStyle/>
          <a:p>
            <a:pPr indent="0" marL="0">
              <a:buNone/>
            </a:pPr>
            <a:r>
              <a:rPr lang="en-US" sz="900" dirty="0">
                <a:solidFill>
                  <a:srgbClr val="6D3B52"/>
                </a:solidFill>
              </a:rPr>
              <a:t>88.11%</a:t>
            </a:r>
            <a:endParaRPr lang="en-US" sz="900" dirty="0"/>
          </a:p>
        </p:txBody>
      </p:sp>
      <p:sp>
        <p:nvSpPr>
          <p:cNvPr id="29" name="Shape 27"/>
          <p:cNvSpPr/>
          <p:nvPr/>
        </p:nvSpPr>
        <p:spPr>
          <a:xfrm>
            <a:off x="2286000" y="3511296"/>
            <a:ext cx="5943600" cy="182880"/>
          </a:xfrm>
          <a:prstGeom prst="rect">
            <a:avLst/>
          </a:prstGeom>
          <a:solidFill>
            <a:srgbClr val="F2EAF0"/>
          </a:solidFill>
          <a:ln/>
        </p:spPr>
      </p:sp>
      <p:sp>
        <p:nvSpPr>
          <p:cNvPr id="30" name="Shape 28"/>
          <p:cNvSpPr/>
          <p:nvPr/>
        </p:nvSpPr>
        <p:spPr>
          <a:xfrm>
            <a:off x="2286000" y="3511296"/>
            <a:ext cx="5286832" cy="182880"/>
          </a:xfrm>
          <a:prstGeom prst="rect">
            <a:avLst/>
          </a:prstGeom>
          <a:solidFill>
            <a:srgbClr val="8B1E3F"/>
          </a:solidFill>
          <a:ln/>
        </p:spPr>
      </p:sp>
      <p:sp>
        <p:nvSpPr>
          <p:cNvPr id="31" name="Text 29"/>
          <p:cNvSpPr txBox="1"/>
          <p:nvPr/>
        </p:nvSpPr>
        <p:spPr>
          <a:xfrm>
            <a:off x="457200" y="3474720"/>
            <a:ext cx="1828800" cy="237744"/>
          </a:xfrm>
          <a:prstGeom prst="rect">
            <a:avLst/>
          </a:prstGeom>
          <a:noFill/>
          <a:ln/>
        </p:spPr>
        <p:txBody>
          <a:bodyPr wrap="square" rtlCol="0" anchor="ctr"/>
          <a:lstStyle/>
          <a:p>
            <a:pPr indent="0" marL="0">
              <a:buNone/>
            </a:pPr>
            <a:r>
              <a:rPr lang="en-US" sz="900" b="1" dirty="0">
                <a:solidFill>
                  <a:srgbClr val="8B1E3F"/>
                </a:solidFill>
              </a:rPr>
              <a:t>CNN + Augmentation ✦</a:t>
            </a:r>
            <a:endParaRPr lang="en-US" sz="900" dirty="0"/>
          </a:p>
        </p:txBody>
      </p:sp>
      <p:sp>
        <p:nvSpPr>
          <p:cNvPr id="32" name="Text 30"/>
          <p:cNvSpPr txBox="1"/>
          <p:nvPr/>
        </p:nvSpPr>
        <p:spPr>
          <a:xfrm>
            <a:off x="8321040" y="3474720"/>
            <a:ext cx="731520" cy="237744"/>
          </a:xfrm>
          <a:prstGeom prst="rect">
            <a:avLst/>
          </a:prstGeom>
          <a:noFill/>
          <a:ln/>
        </p:spPr>
        <p:txBody>
          <a:bodyPr wrap="square" rtlCol="0" anchor="ctr"/>
          <a:lstStyle/>
          <a:p>
            <a:pPr indent="0" marL="0">
              <a:buNone/>
            </a:pPr>
            <a:r>
              <a:rPr lang="en-US" sz="900" b="1" dirty="0">
                <a:solidFill>
                  <a:srgbClr val="8B1E3F"/>
                </a:solidFill>
              </a:rPr>
              <a:t>88.95%</a:t>
            </a:r>
            <a:endParaRPr lang="en-US" sz="900" dirty="0"/>
          </a:p>
        </p:txBody>
      </p:sp>
      <p:sp>
        <p:nvSpPr>
          <p:cNvPr id="33" name="Shape 31"/>
          <p:cNvSpPr/>
          <p:nvPr/>
        </p:nvSpPr>
        <p:spPr>
          <a:xfrm>
            <a:off x="2286000" y="3913632"/>
            <a:ext cx="5943600" cy="182880"/>
          </a:xfrm>
          <a:prstGeom prst="rect">
            <a:avLst/>
          </a:prstGeom>
          <a:solidFill>
            <a:srgbClr val="F2EAF0"/>
          </a:solidFill>
          <a:ln/>
        </p:spPr>
      </p:sp>
      <p:sp>
        <p:nvSpPr>
          <p:cNvPr id="34" name="Shape 32"/>
          <p:cNvSpPr/>
          <p:nvPr/>
        </p:nvSpPr>
        <p:spPr>
          <a:xfrm>
            <a:off x="2286000" y="3913632"/>
            <a:ext cx="5139431" cy="182880"/>
          </a:xfrm>
          <a:prstGeom prst="rect">
            <a:avLst/>
          </a:prstGeom>
          <a:solidFill>
            <a:srgbClr val="C44569"/>
          </a:solidFill>
          <a:ln/>
        </p:spPr>
      </p:sp>
      <p:sp>
        <p:nvSpPr>
          <p:cNvPr id="35" name="Text 33"/>
          <p:cNvSpPr txBox="1"/>
          <p:nvPr/>
        </p:nvSpPr>
        <p:spPr>
          <a:xfrm>
            <a:off x="457200" y="3877056"/>
            <a:ext cx="1828800" cy="237744"/>
          </a:xfrm>
          <a:prstGeom prst="rect">
            <a:avLst/>
          </a:prstGeom>
          <a:noFill/>
          <a:ln/>
        </p:spPr>
        <p:txBody>
          <a:bodyPr wrap="square" rtlCol="0" anchor="ctr"/>
          <a:lstStyle/>
          <a:p>
            <a:pPr indent="0" marL="0">
              <a:buNone/>
            </a:pPr>
            <a:r>
              <a:rPr lang="en-US" sz="900" dirty="0">
                <a:solidFill>
                  <a:srgbClr val="6D3B52"/>
                </a:solidFill>
              </a:rPr>
              <a:t>MobileNetV2 (frozen)</a:t>
            </a:r>
            <a:endParaRPr lang="en-US" sz="900" dirty="0"/>
          </a:p>
        </p:txBody>
      </p:sp>
      <p:sp>
        <p:nvSpPr>
          <p:cNvPr id="36" name="Text 34"/>
          <p:cNvSpPr txBox="1"/>
          <p:nvPr/>
        </p:nvSpPr>
        <p:spPr>
          <a:xfrm>
            <a:off x="8321040" y="3877056"/>
            <a:ext cx="731520" cy="237744"/>
          </a:xfrm>
          <a:prstGeom prst="rect">
            <a:avLst/>
          </a:prstGeom>
          <a:noFill/>
          <a:ln/>
        </p:spPr>
        <p:txBody>
          <a:bodyPr wrap="square" rtlCol="0" anchor="ctr"/>
          <a:lstStyle/>
          <a:p>
            <a:pPr indent="0" marL="0">
              <a:buNone/>
            </a:pPr>
            <a:r>
              <a:rPr lang="en-US" sz="900" dirty="0">
                <a:solidFill>
                  <a:srgbClr val="6D3B52"/>
                </a:solidFill>
              </a:rPr>
              <a:t>86.47%</a:t>
            </a:r>
            <a:endParaRPr lang="en-US" sz="900" dirty="0"/>
          </a:p>
        </p:txBody>
      </p:sp>
      <p:sp>
        <p:nvSpPr>
          <p:cNvPr id="37" name="Shape 35"/>
          <p:cNvSpPr/>
          <p:nvPr/>
        </p:nvSpPr>
        <p:spPr>
          <a:xfrm>
            <a:off x="457200" y="4251960"/>
            <a:ext cx="8229600" cy="594360"/>
          </a:xfrm>
          <a:prstGeom prst="roundRect">
            <a:avLst>
              <a:gd name="adj" fmla="val 12308"/>
            </a:avLst>
          </a:prstGeom>
          <a:solidFill>
            <a:srgbClr val="F2EAF0"/>
          </a:solidFill>
          <a:ln w="12700">
            <a:solidFill>
              <a:srgbClr val="E5D0DC"/>
            </a:solidFill>
            <a:prstDash val="solid"/>
          </a:ln>
        </p:spPr>
      </p:sp>
      <p:sp>
        <p:nvSpPr>
          <p:cNvPr id="38" name="Text 36"/>
          <p:cNvSpPr txBox="1"/>
          <p:nvPr/>
        </p:nvSpPr>
        <p:spPr>
          <a:xfrm>
            <a:off x="594360" y="4315968"/>
            <a:ext cx="7955280" cy="457200"/>
          </a:xfrm>
          <a:prstGeom prst="rect">
            <a:avLst/>
          </a:prstGeom>
          <a:noFill/>
          <a:ln/>
        </p:spPr>
        <p:txBody>
          <a:bodyPr wrap="square" rtlCol="0" anchor="ctr"/>
          <a:lstStyle/>
          <a:p>
            <a:pPr indent="0" marL="0">
              <a:buNone/>
            </a:pPr>
            <a:r>
              <a:rPr lang="en-US" sz="1050" dirty="0">
                <a:solidFill>
                  <a:srgbClr val="3D2535"/>
                </a:solidFill>
              </a:rPr>
              <a:t>AUC 0.9579 = the model correctly ranks a malignant image above a benign one 95.8% of the time — across all thresholds.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DFBFC"/>
          </a:solidFill>
          <a:ln/>
        </p:spPr>
      </p:sp>
      <p:sp>
        <p:nvSpPr>
          <p:cNvPr id="3" name="Text 1"/>
          <p:cNvSpPr txBox="1"/>
          <p:nvPr/>
        </p:nvSpPr>
        <p:spPr>
          <a:xfrm>
            <a:off x="457200" y="256032"/>
            <a:ext cx="8229600" cy="201168"/>
          </a:xfrm>
          <a:prstGeom prst="rect">
            <a:avLst/>
          </a:prstGeom>
          <a:noFill/>
          <a:ln/>
        </p:spPr>
        <p:txBody>
          <a:bodyPr wrap="square" rtlCol="0" anchor="ctr"/>
          <a:lstStyle/>
          <a:p>
            <a:pPr indent="0" marL="0">
              <a:buNone/>
            </a:pPr>
            <a:r>
              <a:rPr lang="en-US" sz="800" b="1" spc="300" kern="0" dirty="0">
                <a:solidFill>
                  <a:srgbClr val="C44569"/>
                </a:solidFill>
              </a:rPr>
              <a:t>MODEL BEHAVIOR</a:t>
            </a:r>
            <a:endParaRPr lang="en-US" sz="800" dirty="0"/>
          </a:p>
        </p:txBody>
      </p:sp>
      <p:sp>
        <p:nvSpPr>
          <p:cNvPr id="4" name="Text 2"/>
          <p:cNvSpPr txBox="1"/>
          <p:nvPr/>
        </p:nvSpPr>
        <p:spPr>
          <a:xfrm>
            <a:off x="457200" y="502920"/>
            <a:ext cx="8229600" cy="640080"/>
          </a:xfrm>
          <a:prstGeom prst="rect">
            <a:avLst/>
          </a:prstGeom>
          <a:noFill/>
          <a:ln/>
        </p:spPr>
        <p:txBody>
          <a:bodyPr wrap="square" rtlCol="0" anchor="ctr"/>
          <a:lstStyle/>
          <a:p>
            <a:pPr indent="0" marL="0">
              <a:buNone/>
            </a:pPr>
            <a:r>
              <a:rPr lang="en-US" sz="2800" b="1" dirty="0">
                <a:solidFill>
                  <a:srgbClr val="8B1E3F"/>
                </a:solidFill>
                <a:latin typeface="Georgia" pitchFamily="34" charset="0"/>
                <a:ea typeface="Georgia" pitchFamily="34" charset="-122"/>
                <a:cs typeface="Georgia" pitchFamily="34" charset="-120"/>
              </a:rPr>
              <a:t>What drove the model's decisions?</a:t>
            </a:r>
            <a:endParaRPr lang="en-US" sz="2800" dirty="0"/>
          </a:p>
        </p:txBody>
      </p:sp>
      <p:sp>
        <p:nvSpPr>
          <p:cNvPr id="5" name="Shape 3"/>
          <p:cNvSpPr/>
          <p:nvPr/>
        </p:nvSpPr>
        <p:spPr>
          <a:xfrm>
            <a:off x="457200" y="1234440"/>
            <a:ext cx="2560320" cy="1005840"/>
          </a:xfrm>
          <a:prstGeom prst="roundRect">
            <a:avLst>
              <a:gd name="adj" fmla="val 10909"/>
            </a:avLst>
          </a:prstGeom>
          <a:solidFill>
            <a:srgbClr val="F2EAF0"/>
          </a:solidFill>
          <a:ln w="12700">
            <a:solidFill>
              <a:srgbClr val="E5D0DC"/>
            </a:solidFill>
            <a:prstDash val="solid"/>
          </a:ln>
        </p:spPr>
      </p:sp>
      <p:sp>
        <p:nvSpPr>
          <p:cNvPr id="6" name="Text 4"/>
          <p:cNvSpPr txBox="1"/>
          <p:nvPr/>
        </p:nvSpPr>
        <p:spPr>
          <a:xfrm>
            <a:off x="594360" y="1344168"/>
            <a:ext cx="2286000" cy="457200"/>
          </a:xfrm>
          <a:prstGeom prst="rect">
            <a:avLst/>
          </a:prstGeom>
          <a:noFill/>
          <a:ln/>
        </p:spPr>
        <p:txBody>
          <a:bodyPr wrap="square" rtlCol="0" anchor="ctr"/>
          <a:lstStyle/>
          <a:p>
            <a:pPr indent="0" marL="0">
              <a:buNone/>
            </a:pPr>
            <a:r>
              <a:rPr lang="en-US" sz="2200" b="1" dirty="0">
                <a:solidFill>
                  <a:srgbClr val="8B1E3F"/>
                </a:solidFill>
                <a:latin typeface="Georgia" pitchFamily="34" charset="0"/>
                <a:ea typeface="Georgia" pitchFamily="34" charset="-122"/>
                <a:cs typeface="Georgia" pitchFamily="34" charset="-120"/>
              </a:rPr>
              <a:t>0.5</a:t>
            </a:r>
            <a:endParaRPr lang="en-US" sz="2200" dirty="0"/>
          </a:p>
        </p:txBody>
      </p:sp>
      <p:sp>
        <p:nvSpPr>
          <p:cNvPr id="7" name="Text 5"/>
          <p:cNvSpPr txBox="1"/>
          <p:nvPr/>
        </p:nvSpPr>
        <p:spPr>
          <a:xfrm>
            <a:off x="594360" y="1828800"/>
            <a:ext cx="2286000" cy="320040"/>
          </a:xfrm>
          <a:prstGeom prst="rect">
            <a:avLst/>
          </a:prstGeom>
          <a:noFill/>
          <a:ln/>
        </p:spPr>
        <p:txBody>
          <a:bodyPr wrap="square" rtlCol="0" anchor="ctr"/>
          <a:lstStyle/>
          <a:p>
            <a:pPr indent="0" marL="0">
              <a:buNone/>
            </a:pPr>
            <a:r>
              <a:rPr lang="en-US" sz="900" dirty="0">
                <a:solidFill>
                  <a:srgbClr val="6D3B52"/>
                </a:solidFill>
              </a:rPr>
              <a:t>Classification threshold</a:t>
            </a:r>
            <a:endParaRPr lang="en-US" sz="900" dirty="0"/>
          </a:p>
        </p:txBody>
      </p:sp>
      <p:sp>
        <p:nvSpPr>
          <p:cNvPr id="8" name="Shape 6"/>
          <p:cNvSpPr/>
          <p:nvPr/>
        </p:nvSpPr>
        <p:spPr>
          <a:xfrm>
            <a:off x="3291840" y="1234440"/>
            <a:ext cx="2560320" cy="1005840"/>
          </a:xfrm>
          <a:prstGeom prst="roundRect">
            <a:avLst>
              <a:gd name="adj" fmla="val 10909"/>
            </a:avLst>
          </a:prstGeom>
          <a:solidFill>
            <a:srgbClr val="F2EAF0"/>
          </a:solidFill>
          <a:ln w="12700">
            <a:solidFill>
              <a:srgbClr val="E5D0DC"/>
            </a:solidFill>
            <a:prstDash val="solid"/>
          </a:ln>
        </p:spPr>
      </p:sp>
      <p:sp>
        <p:nvSpPr>
          <p:cNvPr id="9" name="Text 7"/>
          <p:cNvSpPr txBox="1"/>
          <p:nvPr/>
        </p:nvSpPr>
        <p:spPr>
          <a:xfrm>
            <a:off x="3429000" y="1344168"/>
            <a:ext cx="2286000" cy="457200"/>
          </a:xfrm>
          <a:prstGeom prst="rect">
            <a:avLst/>
          </a:prstGeom>
          <a:noFill/>
          <a:ln/>
        </p:spPr>
        <p:txBody>
          <a:bodyPr wrap="square" rtlCol="0" anchor="ctr"/>
          <a:lstStyle/>
          <a:p>
            <a:pPr indent="0" marL="0">
              <a:buNone/>
            </a:pPr>
            <a:r>
              <a:rPr lang="en-US" sz="2200" b="1" dirty="0">
                <a:solidFill>
                  <a:srgbClr val="8B1E3F"/>
                </a:solidFill>
                <a:latin typeface="Georgia" pitchFamily="34" charset="0"/>
                <a:ea typeface="Georgia" pitchFamily="34" charset="-122"/>
                <a:cs typeface="Georgia" pitchFamily="34" charset="-120"/>
              </a:rPr>
              <a:t>89.39%</a:t>
            </a:r>
            <a:endParaRPr lang="en-US" sz="2200" dirty="0"/>
          </a:p>
        </p:txBody>
      </p:sp>
      <p:sp>
        <p:nvSpPr>
          <p:cNvPr id="10" name="Text 8"/>
          <p:cNvSpPr txBox="1"/>
          <p:nvPr/>
        </p:nvSpPr>
        <p:spPr>
          <a:xfrm>
            <a:off x="3429000" y="1828800"/>
            <a:ext cx="2286000" cy="320040"/>
          </a:xfrm>
          <a:prstGeom prst="rect">
            <a:avLst/>
          </a:prstGeom>
          <a:noFill/>
          <a:ln/>
        </p:spPr>
        <p:txBody>
          <a:bodyPr wrap="square" rtlCol="0" anchor="ctr"/>
          <a:lstStyle/>
          <a:p>
            <a:pPr indent="0" marL="0">
              <a:buNone/>
            </a:pPr>
            <a:r>
              <a:rPr lang="en-US" sz="900" dirty="0">
                <a:solidFill>
                  <a:srgbClr val="6D3B52"/>
                </a:solidFill>
              </a:rPr>
              <a:t>Best val accuracy (retraining)</a:t>
            </a:r>
            <a:endParaRPr lang="en-US" sz="900" dirty="0"/>
          </a:p>
        </p:txBody>
      </p:sp>
      <p:sp>
        <p:nvSpPr>
          <p:cNvPr id="11" name="Shape 9"/>
          <p:cNvSpPr/>
          <p:nvPr/>
        </p:nvSpPr>
        <p:spPr>
          <a:xfrm>
            <a:off x="6126480" y="1234440"/>
            <a:ext cx="2560320" cy="1005840"/>
          </a:xfrm>
          <a:prstGeom prst="roundRect">
            <a:avLst>
              <a:gd name="adj" fmla="val 10909"/>
            </a:avLst>
          </a:prstGeom>
          <a:solidFill>
            <a:srgbClr val="F2EAF0"/>
          </a:solidFill>
          <a:ln w="12700">
            <a:solidFill>
              <a:srgbClr val="E5D0DC"/>
            </a:solidFill>
            <a:prstDash val="solid"/>
          </a:ln>
        </p:spPr>
      </p:sp>
      <p:sp>
        <p:nvSpPr>
          <p:cNvPr id="12" name="Text 10"/>
          <p:cNvSpPr txBox="1"/>
          <p:nvPr/>
        </p:nvSpPr>
        <p:spPr>
          <a:xfrm>
            <a:off x="6263640" y="1344168"/>
            <a:ext cx="2286000" cy="457200"/>
          </a:xfrm>
          <a:prstGeom prst="rect">
            <a:avLst/>
          </a:prstGeom>
          <a:noFill/>
          <a:ln/>
        </p:spPr>
        <p:txBody>
          <a:bodyPr wrap="square" rtlCol="0" anchor="ctr"/>
          <a:lstStyle/>
          <a:p>
            <a:pPr indent="0" marL="0">
              <a:buNone/>
            </a:pPr>
            <a:r>
              <a:rPr lang="en-US" sz="2200" b="1" dirty="0">
                <a:solidFill>
                  <a:srgbClr val="8B1E3F"/>
                </a:solidFill>
                <a:latin typeface="Georgia" pitchFamily="34" charset="0"/>
                <a:ea typeface="Georgia" pitchFamily="34" charset="-122"/>
                <a:cs typeface="Georgia" pitchFamily="34" charset="-120"/>
              </a:rPr>
              <a:t>0.9597</a:t>
            </a:r>
            <a:endParaRPr lang="en-US" sz="2200" dirty="0"/>
          </a:p>
        </p:txBody>
      </p:sp>
      <p:sp>
        <p:nvSpPr>
          <p:cNvPr id="13" name="Text 11"/>
          <p:cNvSpPr txBox="1"/>
          <p:nvPr/>
        </p:nvSpPr>
        <p:spPr>
          <a:xfrm>
            <a:off x="6263640" y="1828800"/>
            <a:ext cx="2286000" cy="320040"/>
          </a:xfrm>
          <a:prstGeom prst="rect">
            <a:avLst/>
          </a:prstGeom>
          <a:noFill/>
          <a:ln/>
        </p:spPr>
        <p:txBody>
          <a:bodyPr wrap="square" rtlCol="0" anchor="ctr"/>
          <a:lstStyle/>
          <a:p>
            <a:pPr indent="0" marL="0">
              <a:buNone/>
            </a:pPr>
            <a:r>
              <a:rPr lang="en-US" sz="900" dirty="0">
                <a:solidFill>
                  <a:srgbClr val="6D3B52"/>
                </a:solidFill>
              </a:rPr>
              <a:t>Best val AUC (retraining)</a:t>
            </a:r>
            <a:endParaRPr lang="en-US" sz="900" dirty="0"/>
          </a:p>
        </p:txBody>
      </p:sp>
      <p:sp>
        <p:nvSpPr>
          <p:cNvPr id="14" name="Shape 12"/>
          <p:cNvSpPr/>
          <p:nvPr/>
        </p:nvSpPr>
        <p:spPr>
          <a:xfrm>
            <a:off x="457200" y="2514600"/>
            <a:ext cx="256032" cy="256032"/>
          </a:xfrm>
          <a:prstGeom prst="ellipse">
            <a:avLst/>
          </a:prstGeom>
          <a:solidFill>
            <a:srgbClr val="C44569"/>
          </a:solidFill>
          <a:ln/>
        </p:spPr>
      </p:sp>
      <p:sp>
        <p:nvSpPr>
          <p:cNvPr id="15" name="Text 13"/>
          <p:cNvSpPr txBox="1"/>
          <p:nvPr/>
        </p:nvSpPr>
        <p:spPr>
          <a:xfrm>
            <a:off x="475488" y="2523744"/>
            <a:ext cx="219456" cy="201168"/>
          </a:xfrm>
          <a:prstGeom prst="rect">
            <a:avLst/>
          </a:prstGeom>
          <a:noFill/>
          <a:ln/>
        </p:spPr>
        <p:txBody>
          <a:bodyPr wrap="square" rtlCol="0" anchor="ctr"/>
          <a:lstStyle/>
          <a:p>
            <a:pPr algn="ctr" indent="0" marL="0">
              <a:buNone/>
            </a:pPr>
            <a:r>
              <a:rPr lang="en-US" sz="900" b="1" dirty="0">
                <a:solidFill>
                  <a:srgbClr val="FFFFFF"/>
                </a:solidFill>
              </a:rPr>
              <a:t>1</a:t>
            </a:r>
            <a:endParaRPr lang="en-US" sz="900" dirty="0"/>
          </a:p>
        </p:txBody>
      </p:sp>
      <p:sp>
        <p:nvSpPr>
          <p:cNvPr id="16" name="Text 14"/>
          <p:cNvSpPr txBox="1"/>
          <p:nvPr/>
        </p:nvSpPr>
        <p:spPr>
          <a:xfrm>
            <a:off x="804672" y="2487168"/>
            <a:ext cx="7315200" cy="347472"/>
          </a:xfrm>
          <a:prstGeom prst="rect">
            <a:avLst/>
          </a:prstGeom>
          <a:noFill/>
          <a:ln/>
        </p:spPr>
        <p:txBody>
          <a:bodyPr wrap="square" rtlCol="0" anchor="ctr"/>
          <a:lstStyle/>
          <a:p>
            <a:pPr indent="0" marL="0">
              <a:lnSpc>
                <a:spcPct val="135000"/>
              </a:lnSpc>
              <a:buNone/>
            </a:pPr>
            <a:r>
              <a:rPr lang="en-US" sz="1100" b="1" dirty="0">
                <a:solidFill>
                  <a:srgbClr val="8B1E3F"/>
                </a:solidFill>
              </a:rPr>
              <a:t>Augmentation reduced overfitting: </a:t>
            </a:r>
            <a:pPr indent="0" marL="0">
              <a:lnSpc>
                <a:spcPct val="135000"/>
              </a:lnSpc>
              <a:buNone/>
            </a:pPr>
            <a:r>
              <a:rPr lang="en-US" sz="1100" dirty="0">
                <a:solidFill>
                  <a:srgbClr val="3D2535"/>
                </a:solidFill>
              </a:rPr>
              <a:t>the training/validation accuracy gap was smaller than the scratch baseline — the model learned patterns, not image positions.</a:t>
            </a:r>
            <a:endParaRPr lang="en-US" sz="1100" dirty="0"/>
          </a:p>
        </p:txBody>
      </p:sp>
      <p:sp>
        <p:nvSpPr>
          <p:cNvPr id="17" name="Shape 15"/>
          <p:cNvSpPr/>
          <p:nvPr/>
        </p:nvSpPr>
        <p:spPr>
          <a:xfrm>
            <a:off x="457200" y="2971800"/>
            <a:ext cx="256032" cy="256032"/>
          </a:xfrm>
          <a:prstGeom prst="ellipse">
            <a:avLst/>
          </a:prstGeom>
          <a:solidFill>
            <a:srgbClr val="C44569"/>
          </a:solidFill>
          <a:ln/>
        </p:spPr>
      </p:sp>
      <p:sp>
        <p:nvSpPr>
          <p:cNvPr id="18" name="Text 16"/>
          <p:cNvSpPr txBox="1"/>
          <p:nvPr/>
        </p:nvSpPr>
        <p:spPr>
          <a:xfrm>
            <a:off x="475488" y="2980944"/>
            <a:ext cx="219456" cy="201168"/>
          </a:xfrm>
          <a:prstGeom prst="rect">
            <a:avLst/>
          </a:prstGeom>
          <a:noFill/>
          <a:ln/>
        </p:spPr>
        <p:txBody>
          <a:bodyPr wrap="square" rtlCol="0" anchor="ctr"/>
          <a:lstStyle/>
          <a:p>
            <a:pPr algn="ctr" indent="0" marL="0">
              <a:buNone/>
            </a:pPr>
            <a:r>
              <a:rPr lang="en-US" sz="900" b="1" dirty="0">
                <a:solidFill>
                  <a:srgbClr val="FFFFFF"/>
                </a:solidFill>
              </a:rPr>
              <a:t>2</a:t>
            </a:r>
            <a:endParaRPr lang="en-US" sz="900" dirty="0"/>
          </a:p>
        </p:txBody>
      </p:sp>
      <p:sp>
        <p:nvSpPr>
          <p:cNvPr id="19" name="Text 17"/>
          <p:cNvSpPr txBox="1"/>
          <p:nvPr/>
        </p:nvSpPr>
        <p:spPr>
          <a:xfrm>
            <a:off x="804672" y="2944368"/>
            <a:ext cx="7315200" cy="347472"/>
          </a:xfrm>
          <a:prstGeom prst="rect">
            <a:avLst/>
          </a:prstGeom>
          <a:noFill/>
          <a:ln/>
        </p:spPr>
        <p:txBody>
          <a:bodyPr wrap="square" rtlCol="0" anchor="ctr"/>
          <a:lstStyle/>
          <a:p>
            <a:pPr indent="0" marL="0">
              <a:lnSpc>
                <a:spcPct val="135000"/>
              </a:lnSpc>
              <a:buNone/>
            </a:pPr>
            <a:r>
              <a:rPr lang="en-US" sz="1100" b="1" dirty="0">
                <a:solidFill>
                  <a:srgbClr val="8B1E3F"/>
                </a:solidFill>
              </a:rPr>
              <a:t>Confidence is not certainty: </a:t>
            </a:r>
            <a:pPr indent="0" marL="0">
              <a:lnSpc>
                <a:spcPct val="135000"/>
              </a:lnSpc>
              <a:buNone/>
            </a:pPr>
            <a:r>
              <a:rPr lang="en-US" sz="1100" dirty="0">
                <a:solidFill>
                  <a:srgbClr val="3D2535"/>
                </a:solidFill>
              </a:rPr>
              <a:t>borderline cases (~61% confidence) reflect genuine visual ambiguity in the lesion — the model uncertainty mirrors the task difficulty.</a:t>
            </a:r>
            <a:endParaRPr lang="en-US" sz="1100" dirty="0"/>
          </a:p>
        </p:txBody>
      </p:sp>
      <p:sp>
        <p:nvSpPr>
          <p:cNvPr id="20" name="Shape 18"/>
          <p:cNvSpPr/>
          <p:nvPr/>
        </p:nvSpPr>
        <p:spPr>
          <a:xfrm>
            <a:off x="457200" y="3429000"/>
            <a:ext cx="256032" cy="256032"/>
          </a:xfrm>
          <a:prstGeom prst="ellipse">
            <a:avLst/>
          </a:prstGeom>
          <a:solidFill>
            <a:srgbClr val="C44569"/>
          </a:solidFill>
          <a:ln/>
        </p:spPr>
      </p:sp>
      <p:sp>
        <p:nvSpPr>
          <p:cNvPr id="21" name="Text 19"/>
          <p:cNvSpPr txBox="1"/>
          <p:nvPr/>
        </p:nvSpPr>
        <p:spPr>
          <a:xfrm>
            <a:off x="475488" y="3438144"/>
            <a:ext cx="219456" cy="201168"/>
          </a:xfrm>
          <a:prstGeom prst="rect">
            <a:avLst/>
          </a:prstGeom>
          <a:noFill/>
          <a:ln/>
        </p:spPr>
        <p:txBody>
          <a:bodyPr wrap="square" rtlCol="0" anchor="ctr"/>
          <a:lstStyle/>
          <a:p>
            <a:pPr algn="ctr" indent="0" marL="0">
              <a:buNone/>
            </a:pPr>
            <a:r>
              <a:rPr lang="en-US" sz="900" b="1" dirty="0">
                <a:solidFill>
                  <a:srgbClr val="FFFFFF"/>
                </a:solidFill>
              </a:rPr>
              <a:t>3</a:t>
            </a:r>
            <a:endParaRPr lang="en-US" sz="900" dirty="0"/>
          </a:p>
        </p:txBody>
      </p:sp>
      <p:sp>
        <p:nvSpPr>
          <p:cNvPr id="22" name="Text 20"/>
          <p:cNvSpPr txBox="1"/>
          <p:nvPr/>
        </p:nvSpPr>
        <p:spPr>
          <a:xfrm>
            <a:off x="804672" y="3401568"/>
            <a:ext cx="7315200" cy="347472"/>
          </a:xfrm>
          <a:prstGeom prst="rect">
            <a:avLst/>
          </a:prstGeom>
          <a:noFill/>
          <a:ln/>
        </p:spPr>
        <p:txBody>
          <a:bodyPr wrap="square" rtlCol="0" anchor="ctr"/>
          <a:lstStyle/>
          <a:p>
            <a:pPr indent="0" marL="0">
              <a:lnSpc>
                <a:spcPct val="135000"/>
              </a:lnSpc>
              <a:buNone/>
            </a:pPr>
            <a:r>
              <a:rPr lang="en-US" sz="1100" b="1" dirty="0">
                <a:solidFill>
                  <a:srgbClr val="8B1E3F"/>
                </a:solidFill>
              </a:rPr>
              <a:t>MobileNetV2 limitation: </a:t>
            </a:r>
            <a:pPr indent="0" marL="0">
              <a:lnSpc>
                <a:spcPct val="135000"/>
              </a:lnSpc>
              <a:buNone/>
            </a:pPr>
            <a:r>
              <a:rPr lang="en-US" sz="1100" dirty="0">
                <a:solidFill>
                  <a:srgbClr val="3D2535"/>
                </a:solidFill>
              </a:rPr>
              <a:t>frozen pretrained layers could not adapt to dermoscopic characteristics. Fine-tuning the deeper layers is the identified next step.</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0B10"/>
          </a:solidFill>
          <a:ln/>
        </p:spPr>
      </p:sp>
      <p:sp>
        <p:nvSpPr>
          <p:cNvPr id="3" name="Text 1"/>
          <p:cNvSpPr txBox="1"/>
          <p:nvPr/>
        </p:nvSpPr>
        <p:spPr>
          <a:xfrm>
            <a:off x="457200" y="256032"/>
            <a:ext cx="8229600" cy="201168"/>
          </a:xfrm>
          <a:prstGeom prst="rect">
            <a:avLst/>
          </a:prstGeom>
          <a:noFill/>
          <a:ln/>
        </p:spPr>
        <p:txBody>
          <a:bodyPr wrap="square" rtlCol="0" anchor="ctr"/>
          <a:lstStyle/>
          <a:p>
            <a:pPr indent="0" marL="0">
              <a:buNone/>
            </a:pPr>
            <a:r>
              <a:rPr lang="en-US" sz="800" b="1" spc="300" kern="0" dirty="0">
                <a:solidFill>
                  <a:srgbClr val="C44569"/>
                </a:solidFill>
              </a:rPr>
              <a:t>DEPLOYMENT PIPELINE</a:t>
            </a:r>
            <a:endParaRPr lang="en-US" sz="800" dirty="0"/>
          </a:p>
        </p:txBody>
      </p:sp>
      <p:sp>
        <p:nvSpPr>
          <p:cNvPr id="4" name="Text 2"/>
          <p:cNvSpPr txBox="1"/>
          <p:nvPr/>
        </p:nvSpPr>
        <p:spPr>
          <a:xfrm>
            <a:off x="457200" y="502920"/>
            <a:ext cx="8229600" cy="594360"/>
          </a:xfrm>
          <a:prstGeom prst="rect">
            <a:avLst/>
          </a:prstGeom>
          <a:noFill/>
          <a:ln/>
        </p:spPr>
        <p:txBody>
          <a:bodyPr wrap="square" rtlCol="0" anchor="ctr"/>
          <a:lstStyle/>
          <a:p>
            <a:pPr indent="0" marL="0">
              <a:buNone/>
            </a:pPr>
            <a:r>
              <a:rPr lang="en-US" sz="2600" b="1" dirty="0">
                <a:solidFill>
                  <a:srgbClr val="F8A5C2"/>
                </a:solidFill>
                <a:latin typeface="Georgia" pitchFamily="34" charset="0"/>
                <a:ea typeface="Georgia" pitchFamily="34" charset="-122"/>
                <a:cs typeface="Georgia" pitchFamily="34" charset="-120"/>
              </a:rPr>
              <a:t>From serialized model to public web app</a:t>
            </a:r>
            <a:endParaRPr lang="en-US" sz="2600" dirty="0"/>
          </a:p>
        </p:txBody>
      </p:sp>
      <p:sp>
        <p:nvSpPr>
          <p:cNvPr id="5" name="Shape 3"/>
          <p:cNvSpPr/>
          <p:nvPr/>
        </p:nvSpPr>
        <p:spPr>
          <a:xfrm>
            <a:off x="274320" y="1207008"/>
            <a:ext cx="1234440" cy="548640"/>
          </a:xfrm>
          <a:prstGeom prst="roundRect">
            <a:avLst>
              <a:gd name="adj" fmla="val 13333"/>
            </a:avLst>
          </a:prstGeom>
          <a:solidFill>
            <a:srgbClr val="2A1020"/>
          </a:solidFill>
          <a:ln w="12700">
            <a:solidFill>
              <a:srgbClr val="5D2A3A"/>
            </a:solidFill>
            <a:prstDash val="solid"/>
          </a:ln>
        </p:spPr>
      </p:sp>
      <p:sp>
        <p:nvSpPr>
          <p:cNvPr id="6" name="Text 4"/>
          <p:cNvSpPr txBox="1"/>
          <p:nvPr/>
        </p:nvSpPr>
        <p:spPr>
          <a:xfrm>
            <a:off x="292608" y="1234440"/>
            <a:ext cx="1188720" cy="493776"/>
          </a:xfrm>
          <a:prstGeom prst="rect">
            <a:avLst/>
          </a:prstGeom>
          <a:noFill/>
          <a:ln/>
        </p:spPr>
        <p:txBody>
          <a:bodyPr wrap="square" rtlCol="0" anchor="ctr"/>
          <a:lstStyle/>
          <a:p>
            <a:pPr algn="ctr" indent="0" marL="0">
              <a:buNone/>
            </a:pPr>
            <a:r>
              <a:rPr lang="en-US" sz="900" dirty="0">
                <a:solidFill>
                  <a:srgbClr val="DDAAAA"/>
                </a:solidFill>
              </a:rPr>
              <a:t>Train</a:t>
            </a:r>
            <a:endParaRPr lang="en-US" sz="900" dirty="0"/>
          </a:p>
        </p:txBody>
      </p:sp>
      <p:sp>
        <p:nvSpPr>
          <p:cNvPr id="7" name="Text 5"/>
          <p:cNvSpPr txBox="1"/>
          <p:nvPr/>
        </p:nvSpPr>
        <p:spPr>
          <a:xfrm>
            <a:off x="1463040" y="1389888"/>
            <a:ext cx="228600" cy="201168"/>
          </a:xfrm>
          <a:prstGeom prst="rect">
            <a:avLst/>
          </a:prstGeom>
          <a:noFill/>
          <a:ln/>
        </p:spPr>
        <p:txBody>
          <a:bodyPr wrap="square" rtlCol="0" anchor="ctr"/>
          <a:lstStyle/>
          <a:p>
            <a:pPr algn="ctr" indent="0" marL="0">
              <a:buNone/>
            </a:pPr>
            <a:r>
              <a:rPr lang="en-US" sz="1200" dirty="0">
                <a:solidFill>
                  <a:srgbClr val="6D3B52"/>
                </a:solidFill>
              </a:rPr>
              <a:t>→</a:t>
            </a:r>
            <a:endParaRPr lang="en-US" sz="1200" dirty="0"/>
          </a:p>
        </p:txBody>
      </p:sp>
      <p:sp>
        <p:nvSpPr>
          <p:cNvPr id="8" name="Shape 6"/>
          <p:cNvSpPr/>
          <p:nvPr/>
        </p:nvSpPr>
        <p:spPr>
          <a:xfrm>
            <a:off x="1737360" y="1207008"/>
            <a:ext cx="1234440" cy="548640"/>
          </a:xfrm>
          <a:prstGeom prst="roundRect">
            <a:avLst>
              <a:gd name="adj" fmla="val 13333"/>
            </a:avLst>
          </a:prstGeom>
          <a:solidFill>
            <a:srgbClr val="2A1020"/>
          </a:solidFill>
          <a:ln w="12700">
            <a:solidFill>
              <a:srgbClr val="5D2A3A"/>
            </a:solidFill>
            <a:prstDash val="solid"/>
          </a:ln>
        </p:spPr>
      </p:sp>
      <p:sp>
        <p:nvSpPr>
          <p:cNvPr id="9" name="Text 7"/>
          <p:cNvSpPr txBox="1"/>
          <p:nvPr/>
        </p:nvSpPr>
        <p:spPr>
          <a:xfrm>
            <a:off x="1755648" y="1234440"/>
            <a:ext cx="1188720" cy="493776"/>
          </a:xfrm>
          <a:prstGeom prst="rect">
            <a:avLst/>
          </a:prstGeom>
          <a:noFill/>
          <a:ln/>
        </p:spPr>
        <p:txBody>
          <a:bodyPr wrap="square" rtlCol="0" anchor="ctr"/>
          <a:lstStyle/>
          <a:p>
            <a:pPr algn="ctr" indent="0" marL="0">
              <a:buNone/>
            </a:pPr>
            <a:r>
              <a:rPr lang="en-US" sz="900" dirty="0">
                <a:solidFill>
                  <a:srgbClr val="DDAAAA"/>
                </a:solidFill>
              </a:rPr>
              <a:t>melanoma_cnn</a:t>
            </a:r>
            <a:endParaRPr lang="en-US" sz="900" dirty="0"/>
          </a:p>
          <a:p>
            <a:pPr algn="ctr" indent="0" marL="0">
              <a:buNone/>
            </a:pPr>
            <a:r>
              <a:rPr lang="en-US" sz="900" dirty="0">
                <a:solidFill>
                  <a:srgbClr val="DDAAAA"/>
                </a:solidFill>
              </a:rPr>
              <a:t>.keras</a:t>
            </a:r>
            <a:endParaRPr lang="en-US" sz="900" dirty="0"/>
          </a:p>
        </p:txBody>
      </p:sp>
      <p:sp>
        <p:nvSpPr>
          <p:cNvPr id="10" name="Text 8"/>
          <p:cNvSpPr txBox="1"/>
          <p:nvPr/>
        </p:nvSpPr>
        <p:spPr>
          <a:xfrm>
            <a:off x="2926080" y="1389888"/>
            <a:ext cx="228600" cy="201168"/>
          </a:xfrm>
          <a:prstGeom prst="rect">
            <a:avLst/>
          </a:prstGeom>
          <a:noFill/>
          <a:ln/>
        </p:spPr>
        <p:txBody>
          <a:bodyPr wrap="square" rtlCol="0" anchor="ctr"/>
          <a:lstStyle/>
          <a:p>
            <a:pPr algn="ctr" indent="0" marL="0">
              <a:buNone/>
            </a:pPr>
            <a:r>
              <a:rPr lang="en-US" sz="1200" dirty="0">
                <a:solidFill>
                  <a:srgbClr val="6D3B52"/>
                </a:solidFill>
              </a:rPr>
              <a:t>→</a:t>
            </a:r>
            <a:endParaRPr lang="en-US" sz="1200" dirty="0"/>
          </a:p>
        </p:txBody>
      </p:sp>
      <p:sp>
        <p:nvSpPr>
          <p:cNvPr id="11" name="Shape 9"/>
          <p:cNvSpPr/>
          <p:nvPr/>
        </p:nvSpPr>
        <p:spPr>
          <a:xfrm>
            <a:off x="3200400" y="1207008"/>
            <a:ext cx="1234440" cy="548640"/>
          </a:xfrm>
          <a:prstGeom prst="roundRect">
            <a:avLst>
              <a:gd name="adj" fmla="val 13333"/>
            </a:avLst>
          </a:prstGeom>
          <a:solidFill>
            <a:srgbClr val="2A1020"/>
          </a:solidFill>
          <a:ln w="12700">
            <a:solidFill>
              <a:srgbClr val="5D2A3A"/>
            </a:solidFill>
            <a:prstDash val="solid"/>
          </a:ln>
        </p:spPr>
      </p:sp>
      <p:sp>
        <p:nvSpPr>
          <p:cNvPr id="12" name="Text 10"/>
          <p:cNvSpPr txBox="1"/>
          <p:nvPr/>
        </p:nvSpPr>
        <p:spPr>
          <a:xfrm>
            <a:off x="3218688" y="1234440"/>
            <a:ext cx="1188720" cy="493776"/>
          </a:xfrm>
          <a:prstGeom prst="rect">
            <a:avLst/>
          </a:prstGeom>
          <a:noFill/>
          <a:ln/>
        </p:spPr>
        <p:txBody>
          <a:bodyPr wrap="square" rtlCol="0" anchor="ctr"/>
          <a:lstStyle/>
          <a:p>
            <a:pPr algn="ctr" indent="0" marL="0">
              <a:buNone/>
            </a:pPr>
            <a:r>
              <a:rPr lang="en-US" sz="900" dirty="0">
                <a:solidFill>
                  <a:srgbClr val="DDAAAA"/>
                </a:solidFill>
              </a:rPr>
              <a:t>FastAPI</a:t>
            </a:r>
            <a:endParaRPr lang="en-US" sz="900" dirty="0"/>
          </a:p>
          <a:p>
            <a:pPr algn="ctr" indent="0" marL="0">
              <a:buNone/>
            </a:pPr>
            <a:r>
              <a:rPr lang="en-US" sz="900" dirty="0">
                <a:solidFill>
                  <a:srgbClr val="DDAAAA"/>
                </a:solidFill>
              </a:rPr>
              <a:t>/predict</a:t>
            </a:r>
            <a:endParaRPr lang="en-US" sz="900" dirty="0"/>
          </a:p>
        </p:txBody>
      </p:sp>
      <p:sp>
        <p:nvSpPr>
          <p:cNvPr id="13" name="Text 11"/>
          <p:cNvSpPr txBox="1"/>
          <p:nvPr/>
        </p:nvSpPr>
        <p:spPr>
          <a:xfrm>
            <a:off x="4389120" y="1389888"/>
            <a:ext cx="228600" cy="201168"/>
          </a:xfrm>
          <a:prstGeom prst="rect">
            <a:avLst/>
          </a:prstGeom>
          <a:noFill/>
          <a:ln/>
        </p:spPr>
        <p:txBody>
          <a:bodyPr wrap="square" rtlCol="0" anchor="ctr"/>
          <a:lstStyle/>
          <a:p>
            <a:pPr algn="ctr" indent="0" marL="0">
              <a:buNone/>
            </a:pPr>
            <a:r>
              <a:rPr lang="en-US" sz="1200" dirty="0">
                <a:solidFill>
                  <a:srgbClr val="6D3B52"/>
                </a:solidFill>
              </a:rPr>
              <a:t>→</a:t>
            </a:r>
            <a:endParaRPr lang="en-US" sz="1200" dirty="0"/>
          </a:p>
        </p:txBody>
      </p:sp>
      <p:sp>
        <p:nvSpPr>
          <p:cNvPr id="14" name="Shape 12"/>
          <p:cNvSpPr/>
          <p:nvPr/>
        </p:nvSpPr>
        <p:spPr>
          <a:xfrm>
            <a:off x="4663440" y="1207008"/>
            <a:ext cx="1234440" cy="548640"/>
          </a:xfrm>
          <a:prstGeom prst="roundRect">
            <a:avLst>
              <a:gd name="adj" fmla="val 13333"/>
            </a:avLst>
          </a:prstGeom>
          <a:solidFill>
            <a:srgbClr val="2A1020"/>
          </a:solidFill>
          <a:ln w="12700">
            <a:solidFill>
              <a:srgbClr val="5D2A3A"/>
            </a:solidFill>
            <a:prstDash val="solid"/>
          </a:ln>
        </p:spPr>
      </p:sp>
      <p:sp>
        <p:nvSpPr>
          <p:cNvPr id="15" name="Text 13"/>
          <p:cNvSpPr txBox="1"/>
          <p:nvPr/>
        </p:nvSpPr>
        <p:spPr>
          <a:xfrm>
            <a:off x="4681728" y="1234440"/>
            <a:ext cx="1188720" cy="493776"/>
          </a:xfrm>
          <a:prstGeom prst="rect">
            <a:avLst/>
          </a:prstGeom>
          <a:noFill/>
          <a:ln/>
        </p:spPr>
        <p:txBody>
          <a:bodyPr wrap="square" rtlCol="0" anchor="ctr"/>
          <a:lstStyle/>
          <a:p>
            <a:pPr algn="ctr" indent="0" marL="0">
              <a:buNone/>
            </a:pPr>
            <a:r>
              <a:rPr lang="en-US" sz="900" dirty="0">
                <a:solidFill>
                  <a:srgbClr val="DDAAAA"/>
                </a:solidFill>
              </a:rPr>
              <a:t>Streamlit</a:t>
            </a:r>
            <a:endParaRPr lang="en-US" sz="900" dirty="0"/>
          </a:p>
          <a:p>
            <a:pPr algn="ctr" indent="0" marL="0">
              <a:buNone/>
            </a:pPr>
            <a:r>
              <a:rPr lang="en-US" sz="900" dirty="0">
                <a:solidFill>
                  <a:srgbClr val="DDAAAA"/>
                </a:solidFill>
              </a:rPr>
              <a:t>UI</a:t>
            </a:r>
            <a:endParaRPr lang="en-US" sz="900" dirty="0"/>
          </a:p>
        </p:txBody>
      </p:sp>
      <p:sp>
        <p:nvSpPr>
          <p:cNvPr id="16" name="Text 14"/>
          <p:cNvSpPr txBox="1"/>
          <p:nvPr/>
        </p:nvSpPr>
        <p:spPr>
          <a:xfrm>
            <a:off x="5852160" y="1389888"/>
            <a:ext cx="228600" cy="201168"/>
          </a:xfrm>
          <a:prstGeom prst="rect">
            <a:avLst/>
          </a:prstGeom>
          <a:noFill/>
          <a:ln/>
        </p:spPr>
        <p:txBody>
          <a:bodyPr wrap="square" rtlCol="0" anchor="ctr"/>
          <a:lstStyle/>
          <a:p>
            <a:pPr algn="ctr" indent="0" marL="0">
              <a:buNone/>
            </a:pPr>
            <a:r>
              <a:rPr lang="en-US" sz="1200" dirty="0">
                <a:solidFill>
                  <a:srgbClr val="6D3B52"/>
                </a:solidFill>
              </a:rPr>
              <a:t>→</a:t>
            </a:r>
            <a:endParaRPr lang="en-US" sz="1200" dirty="0"/>
          </a:p>
        </p:txBody>
      </p:sp>
      <p:sp>
        <p:nvSpPr>
          <p:cNvPr id="17" name="Shape 15"/>
          <p:cNvSpPr/>
          <p:nvPr/>
        </p:nvSpPr>
        <p:spPr>
          <a:xfrm>
            <a:off x="6126480" y="1207008"/>
            <a:ext cx="1234440" cy="548640"/>
          </a:xfrm>
          <a:prstGeom prst="roundRect">
            <a:avLst>
              <a:gd name="adj" fmla="val 13333"/>
            </a:avLst>
          </a:prstGeom>
          <a:solidFill>
            <a:srgbClr val="2A1020"/>
          </a:solidFill>
          <a:ln w="12700">
            <a:solidFill>
              <a:srgbClr val="5D2A3A"/>
            </a:solidFill>
            <a:prstDash val="solid"/>
          </a:ln>
        </p:spPr>
      </p:sp>
      <p:sp>
        <p:nvSpPr>
          <p:cNvPr id="18" name="Text 16"/>
          <p:cNvSpPr txBox="1"/>
          <p:nvPr/>
        </p:nvSpPr>
        <p:spPr>
          <a:xfrm>
            <a:off x="6144768" y="1234440"/>
            <a:ext cx="1188720" cy="493776"/>
          </a:xfrm>
          <a:prstGeom prst="rect">
            <a:avLst/>
          </a:prstGeom>
          <a:noFill/>
          <a:ln/>
        </p:spPr>
        <p:txBody>
          <a:bodyPr wrap="square" rtlCol="0" anchor="ctr"/>
          <a:lstStyle/>
          <a:p>
            <a:pPr algn="ctr" indent="0" marL="0">
              <a:buNone/>
            </a:pPr>
            <a:r>
              <a:rPr lang="en-US" sz="900" dirty="0">
                <a:solidFill>
                  <a:srgbClr val="DDAAAA"/>
                </a:solidFill>
              </a:rPr>
              <a:t>Streamlit</a:t>
            </a:r>
            <a:endParaRPr lang="en-US" sz="900" dirty="0"/>
          </a:p>
          <a:p>
            <a:pPr algn="ctr" indent="0" marL="0">
              <a:buNone/>
            </a:pPr>
            <a:r>
              <a:rPr lang="en-US" sz="900" dirty="0">
                <a:solidFill>
                  <a:srgbClr val="DDAAAA"/>
                </a:solidFill>
              </a:rPr>
              <a:t>Cloud</a:t>
            </a:r>
            <a:endParaRPr lang="en-US" sz="900" dirty="0"/>
          </a:p>
        </p:txBody>
      </p:sp>
      <p:sp>
        <p:nvSpPr>
          <p:cNvPr id="19" name="Text 17"/>
          <p:cNvSpPr txBox="1"/>
          <p:nvPr/>
        </p:nvSpPr>
        <p:spPr>
          <a:xfrm>
            <a:off x="7315200" y="1389888"/>
            <a:ext cx="228600" cy="201168"/>
          </a:xfrm>
          <a:prstGeom prst="rect">
            <a:avLst/>
          </a:prstGeom>
          <a:noFill/>
          <a:ln/>
        </p:spPr>
        <p:txBody>
          <a:bodyPr wrap="square" rtlCol="0" anchor="ctr"/>
          <a:lstStyle/>
          <a:p>
            <a:pPr algn="ctr" indent="0" marL="0">
              <a:buNone/>
            </a:pPr>
            <a:r>
              <a:rPr lang="en-US" sz="1200" dirty="0">
                <a:solidFill>
                  <a:srgbClr val="6D3B52"/>
                </a:solidFill>
              </a:rPr>
              <a:t>→</a:t>
            </a:r>
            <a:endParaRPr lang="en-US" sz="1200" dirty="0"/>
          </a:p>
        </p:txBody>
      </p:sp>
      <p:sp>
        <p:nvSpPr>
          <p:cNvPr id="20" name="Shape 18"/>
          <p:cNvSpPr/>
          <p:nvPr/>
        </p:nvSpPr>
        <p:spPr>
          <a:xfrm>
            <a:off x="7589520" y="1207008"/>
            <a:ext cx="1234440" cy="548640"/>
          </a:xfrm>
          <a:prstGeom prst="roundRect">
            <a:avLst>
              <a:gd name="adj" fmla="val 13333"/>
            </a:avLst>
          </a:prstGeom>
          <a:solidFill>
            <a:srgbClr val="2A1020"/>
          </a:solidFill>
          <a:ln w="12700">
            <a:solidFill>
              <a:srgbClr val="5D2A3A"/>
            </a:solidFill>
            <a:prstDash val="solid"/>
          </a:ln>
        </p:spPr>
      </p:sp>
      <p:sp>
        <p:nvSpPr>
          <p:cNvPr id="21" name="Text 19"/>
          <p:cNvSpPr txBox="1"/>
          <p:nvPr/>
        </p:nvSpPr>
        <p:spPr>
          <a:xfrm>
            <a:off x="7607808" y="1234440"/>
            <a:ext cx="1188720" cy="493776"/>
          </a:xfrm>
          <a:prstGeom prst="rect">
            <a:avLst/>
          </a:prstGeom>
          <a:noFill/>
          <a:ln/>
        </p:spPr>
        <p:txBody>
          <a:bodyPr wrap="square" rtlCol="0" anchor="ctr"/>
          <a:lstStyle/>
          <a:p>
            <a:pPr algn="ctr" indent="0" marL="0">
              <a:buNone/>
            </a:pPr>
            <a:r>
              <a:rPr lang="en-US" sz="900" dirty="0">
                <a:solidFill>
                  <a:srgbClr val="DDAAAA"/>
                </a:solidFill>
              </a:rPr>
              <a:t>Public</a:t>
            </a:r>
            <a:endParaRPr lang="en-US" sz="900" dirty="0"/>
          </a:p>
          <a:p>
            <a:pPr algn="ctr" indent="0" marL="0">
              <a:buNone/>
            </a:pPr>
            <a:r>
              <a:rPr lang="en-US" sz="900" dirty="0">
                <a:solidFill>
                  <a:srgbClr val="DDAAAA"/>
                </a:solidFill>
              </a:rPr>
              <a:t>URL</a:t>
            </a:r>
            <a:endParaRPr lang="en-US" sz="900" dirty="0"/>
          </a:p>
        </p:txBody>
      </p:sp>
      <p:sp>
        <p:nvSpPr>
          <p:cNvPr id="22" name="Shape 20"/>
          <p:cNvSpPr/>
          <p:nvPr/>
        </p:nvSpPr>
        <p:spPr>
          <a:xfrm>
            <a:off x="457200" y="1965960"/>
            <a:ext cx="347472" cy="256032"/>
          </a:xfrm>
          <a:prstGeom prst="roundRect">
            <a:avLst>
              <a:gd name="adj" fmla="val 50000"/>
            </a:avLst>
          </a:prstGeom>
          <a:solidFill>
            <a:srgbClr val="C44569"/>
          </a:solidFill>
          <a:ln/>
        </p:spPr>
      </p:sp>
      <p:sp>
        <p:nvSpPr>
          <p:cNvPr id="23" name="Text 21"/>
          <p:cNvSpPr txBox="1"/>
          <p:nvPr/>
        </p:nvSpPr>
        <p:spPr>
          <a:xfrm>
            <a:off x="475488" y="1984248"/>
            <a:ext cx="310896" cy="219456"/>
          </a:xfrm>
          <a:prstGeom prst="rect">
            <a:avLst/>
          </a:prstGeom>
          <a:noFill/>
          <a:ln/>
        </p:spPr>
        <p:txBody>
          <a:bodyPr wrap="square" rtlCol="0" anchor="ctr"/>
          <a:lstStyle/>
          <a:p>
            <a:pPr algn="ctr" indent="0" marL="0">
              <a:buNone/>
            </a:pPr>
            <a:r>
              <a:rPr lang="en-US" sz="800" b="1" dirty="0">
                <a:solidFill>
                  <a:srgbClr val="FFFFFF"/>
                </a:solidFill>
              </a:rPr>
              <a:t>D1</a:t>
            </a:r>
            <a:endParaRPr lang="en-US" sz="800" dirty="0"/>
          </a:p>
        </p:txBody>
      </p:sp>
      <p:sp>
        <p:nvSpPr>
          <p:cNvPr id="24" name="Text 22"/>
          <p:cNvSpPr txBox="1"/>
          <p:nvPr/>
        </p:nvSpPr>
        <p:spPr>
          <a:xfrm>
            <a:off x="932688" y="1956816"/>
            <a:ext cx="7772400" cy="640080"/>
          </a:xfrm>
          <a:prstGeom prst="rect">
            <a:avLst/>
          </a:prstGeom>
          <a:noFill/>
          <a:ln/>
        </p:spPr>
        <p:txBody>
          <a:bodyPr wrap="square" rtlCol="0" anchor="ctr"/>
          <a:lstStyle/>
          <a:p>
            <a:pPr indent="0" marL="0">
              <a:lnSpc>
                <a:spcPct val="130000"/>
              </a:lnSpc>
              <a:buNone/>
            </a:pPr>
            <a:r>
              <a:rPr lang="en-US" sz="1050" b="1" dirty="0">
                <a:solidFill>
                  <a:srgbClr val="F8A5C2"/>
                </a:solidFill>
              </a:rPr>
              <a:t>melanoma_cnn.keras </a:t>
            </a:r>
            <a:pPr indent="0" marL="0">
              <a:lnSpc>
                <a:spcPct val="130000"/>
              </a:lnSpc>
              <a:buNone/>
            </a:pPr>
            <a:r>
              <a:rPr lang="en-US" sz="1050" dirty="0">
                <a:solidFill>
                  <a:srgbClr val="999999"/>
                </a:solidFill>
              </a:rPr>
              <a:t>(5.3 MB) — loads in any environment without retraining.</a:t>
            </a:r>
            <a:endParaRPr lang="en-US" sz="1050" dirty="0"/>
          </a:p>
        </p:txBody>
      </p:sp>
      <p:sp>
        <p:nvSpPr>
          <p:cNvPr id="25" name="Shape 23"/>
          <p:cNvSpPr/>
          <p:nvPr/>
        </p:nvSpPr>
        <p:spPr>
          <a:xfrm>
            <a:off x="457200" y="2679192"/>
            <a:ext cx="347472" cy="256032"/>
          </a:xfrm>
          <a:prstGeom prst="roundRect">
            <a:avLst>
              <a:gd name="adj" fmla="val 50000"/>
            </a:avLst>
          </a:prstGeom>
          <a:solidFill>
            <a:srgbClr val="C44569"/>
          </a:solidFill>
          <a:ln/>
        </p:spPr>
      </p:sp>
      <p:sp>
        <p:nvSpPr>
          <p:cNvPr id="26" name="Text 24"/>
          <p:cNvSpPr txBox="1"/>
          <p:nvPr/>
        </p:nvSpPr>
        <p:spPr>
          <a:xfrm>
            <a:off x="475488" y="2697480"/>
            <a:ext cx="310896" cy="219456"/>
          </a:xfrm>
          <a:prstGeom prst="rect">
            <a:avLst/>
          </a:prstGeom>
          <a:noFill/>
          <a:ln/>
        </p:spPr>
        <p:txBody>
          <a:bodyPr wrap="square" rtlCol="0" anchor="ctr"/>
          <a:lstStyle/>
          <a:p>
            <a:pPr algn="ctr" indent="0" marL="0">
              <a:buNone/>
            </a:pPr>
            <a:r>
              <a:rPr lang="en-US" sz="800" b="1" dirty="0">
                <a:solidFill>
                  <a:srgbClr val="FFFFFF"/>
                </a:solidFill>
              </a:rPr>
              <a:t>D2</a:t>
            </a:r>
            <a:endParaRPr lang="en-US" sz="800" dirty="0"/>
          </a:p>
        </p:txBody>
      </p:sp>
      <p:sp>
        <p:nvSpPr>
          <p:cNvPr id="27" name="Text 25"/>
          <p:cNvSpPr txBox="1"/>
          <p:nvPr/>
        </p:nvSpPr>
        <p:spPr>
          <a:xfrm>
            <a:off x="932688" y="2670048"/>
            <a:ext cx="7772400" cy="640080"/>
          </a:xfrm>
          <a:prstGeom prst="rect">
            <a:avLst/>
          </a:prstGeom>
          <a:noFill/>
          <a:ln/>
        </p:spPr>
        <p:txBody>
          <a:bodyPr wrap="square" rtlCol="0" anchor="ctr"/>
          <a:lstStyle/>
          <a:p>
            <a:pPr indent="0" marL="0">
              <a:lnSpc>
                <a:spcPct val="130000"/>
              </a:lnSpc>
              <a:buNone/>
            </a:pPr>
            <a:r>
              <a:rPr lang="en-US" sz="1050" b="1" dirty="0">
                <a:solidFill>
                  <a:srgbClr val="F8A5C2"/>
                </a:solidFill>
              </a:rPr>
              <a:t>FastAPI POST /predict </a:t>
            </a:r>
            <a:pPr indent="0" marL="0">
              <a:lnSpc>
                <a:spcPct val="130000"/>
              </a:lnSpc>
              <a:buNone/>
            </a:pPr>
            <a:r>
              <a:rPr lang="en-US" sz="1050" dirty="0">
                <a:solidFill>
                  <a:srgbClr val="999999"/>
                </a:solidFill>
              </a:rPr>
              <a:t>— accepts image uploads, validates file type, returns JSON with prediction + confidence.</a:t>
            </a:r>
            <a:endParaRPr lang="en-US" sz="1050" dirty="0"/>
          </a:p>
        </p:txBody>
      </p:sp>
      <p:sp>
        <p:nvSpPr>
          <p:cNvPr id="28" name="Shape 26"/>
          <p:cNvSpPr/>
          <p:nvPr/>
        </p:nvSpPr>
        <p:spPr>
          <a:xfrm>
            <a:off x="457200" y="3392424"/>
            <a:ext cx="347472" cy="256032"/>
          </a:xfrm>
          <a:prstGeom prst="roundRect">
            <a:avLst>
              <a:gd name="adj" fmla="val 50000"/>
            </a:avLst>
          </a:prstGeom>
          <a:solidFill>
            <a:srgbClr val="C44569"/>
          </a:solidFill>
          <a:ln/>
        </p:spPr>
      </p:sp>
      <p:sp>
        <p:nvSpPr>
          <p:cNvPr id="29" name="Text 27"/>
          <p:cNvSpPr txBox="1"/>
          <p:nvPr/>
        </p:nvSpPr>
        <p:spPr>
          <a:xfrm>
            <a:off x="475488" y="3410712"/>
            <a:ext cx="310896" cy="219456"/>
          </a:xfrm>
          <a:prstGeom prst="rect">
            <a:avLst/>
          </a:prstGeom>
          <a:noFill/>
          <a:ln/>
        </p:spPr>
        <p:txBody>
          <a:bodyPr wrap="square" rtlCol="0" anchor="ctr"/>
          <a:lstStyle/>
          <a:p>
            <a:pPr algn="ctr" indent="0" marL="0">
              <a:buNone/>
            </a:pPr>
            <a:r>
              <a:rPr lang="en-US" sz="800" b="1" dirty="0">
                <a:solidFill>
                  <a:srgbClr val="FFFFFF"/>
                </a:solidFill>
              </a:rPr>
              <a:t>D3</a:t>
            </a:r>
            <a:endParaRPr lang="en-US" sz="800" dirty="0"/>
          </a:p>
        </p:txBody>
      </p:sp>
      <p:sp>
        <p:nvSpPr>
          <p:cNvPr id="30" name="Text 28"/>
          <p:cNvSpPr txBox="1"/>
          <p:nvPr/>
        </p:nvSpPr>
        <p:spPr>
          <a:xfrm>
            <a:off x="932688" y="3383280"/>
            <a:ext cx="7772400" cy="640080"/>
          </a:xfrm>
          <a:prstGeom prst="rect">
            <a:avLst/>
          </a:prstGeom>
          <a:noFill/>
          <a:ln/>
        </p:spPr>
        <p:txBody>
          <a:bodyPr wrap="square" rtlCol="0" anchor="ctr"/>
          <a:lstStyle/>
          <a:p>
            <a:pPr indent="0" marL="0">
              <a:lnSpc>
                <a:spcPct val="130000"/>
              </a:lnSpc>
              <a:buNone/>
            </a:pPr>
            <a:r>
              <a:rPr lang="en-US" sz="1050" b="1" dirty="0">
                <a:solidFill>
                  <a:srgbClr val="F8A5C2"/>
                </a:solidFill>
              </a:rPr>
              <a:t>Streamlit dashboard </a:t>
            </a:r>
            <a:pPr indent="0" marL="0">
              <a:lnSpc>
                <a:spcPct val="130000"/>
              </a:lnSpc>
              <a:buNone/>
            </a:pPr>
            <a:r>
              <a:rPr lang="en-US" sz="1050" dirty="0">
                <a:solidFill>
                  <a:srgbClr val="999999"/>
                </a:solidFill>
              </a:rPr>
              <a:t>— image uploader, probability bars, @st.cache_resource ensures model loads once per session.</a:t>
            </a:r>
            <a:endParaRPr lang="en-US" sz="1050" dirty="0"/>
          </a:p>
        </p:txBody>
      </p:sp>
      <p:sp>
        <p:nvSpPr>
          <p:cNvPr id="31" name="Shape 29"/>
          <p:cNvSpPr/>
          <p:nvPr/>
        </p:nvSpPr>
        <p:spPr>
          <a:xfrm>
            <a:off x="457200" y="4105656"/>
            <a:ext cx="347472" cy="256032"/>
          </a:xfrm>
          <a:prstGeom prst="roundRect">
            <a:avLst>
              <a:gd name="adj" fmla="val 50000"/>
            </a:avLst>
          </a:prstGeom>
          <a:solidFill>
            <a:srgbClr val="C44569"/>
          </a:solidFill>
          <a:ln/>
        </p:spPr>
      </p:sp>
      <p:sp>
        <p:nvSpPr>
          <p:cNvPr id="32" name="Text 30"/>
          <p:cNvSpPr txBox="1"/>
          <p:nvPr/>
        </p:nvSpPr>
        <p:spPr>
          <a:xfrm>
            <a:off x="475488" y="4123944"/>
            <a:ext cx="310896" cy="219456"/>
          </a:xfrm>
          <a:prstGeom prst="rect">
            <a:avLst/>
          </a:prstGeom>
          <a:noFill/>
          <a:ln/>
        </p:spPr>
        <p:txBody>
          <a:bodyPr wrap="square" rtlCol="0" anchor="ctr"/>
          <a:lstStyle/>
          <a:p>
            <a:pPr algn="ctr" indent="0" marL="0">
              <a:buNone/>
            </a:pPr>
            <a:r>
              <a:rPr lang="en-US" sz="800" b="1" dirty="0">
                <a:solidFill>
                  <a:srgbClr val="FFFFFF"/>
                </a:solidFill>
              </a:rPr>
              <a:t>D4</a:t>
            </a:r>
            <a:endParaRPr lang="en-US" sz="800" dirty="0"/>
          </a:p>
        </p:txBody>
      </p:sp>
      <p:sp>
        <p:nvSpPr>
          <p:cNvPr id="33" name="Text 31"/>
          <p:cNvSpPr txBox="1"/>
          <p:nvPr/>
        </p:nvSpPr>
        <p:spPr>
          <a:xfrm>
            <a:off x="932688" y="4096512"/>
            <a:ext cx="7772400" cy="640080"/>
          </a:xfrm>
          <a:prstGeom prst="rect">
            <a:avLst/>
          </a:prstGeom>
          <a:noFill/>
          <a:ln/>
        </p:spPr>
        <p:txBody>
          <a:bodyPr wrap="square" rtlCol="0" anchor="ctr"/>
          <a:lstStyle/>
          <a:p>
            <a:pPr indent="0" marL="0">
              <a:lnSpc>
                <a:spcPct val="130000"/>
              </a:lnSpc>
              <a:buNone/>
            </a:pPr>
            <a:r>
              <a:rPr lang="en-US" sz="1050" b="1" dirty="0">
                <a:solidFill>
                  <a:srgbClr val="F8A5C2"/>
                </a:solidFill>
              </a:rPr>
              <a:t>Streamlit Community Cloud </a:t>
            </a:r>
            <a:pPr indent="0" marL="0">
              <a:lnSpc>
                <a:spcPct val="130000"/>
              </a:lnSpc>
              <a:buNone/>
            </a:pPr>
            <a:r>
              <a:rPr lang="en-US" sz="1050" dirty="0">
                <a:solidFill>
                  <a:srgbClr val="999999"/>
                </a:solidFill>
              </a:rPr>
              <a:t>— 4-package requirements.txt, deployed from GitHub, no GPU required.</a:t>
            </a:r>
            <a:endParaRPr lang="en-US" sz="1050" dirty="0"/>
          </a:p>
        </p:txBody>
      </p:sp>
      <p:sp>
        <p:nvSpPr>
          <p:cNvPr id="34" name="Shape 32"/>
          <p:cNvSpPr/>
          <p:nvPr/>
        </p:nvSpPr>
        <p:spPr>
          <a:xfrm>
            <a:off x="457200" y="4617720"/>
            <a:ext cx="8229600" cy="320040"/>
          </a:xfrm>
          <a:prstGeom prst="roundRect">
            <a:avLst>
              <a:gd name="adj" fmla="val 22857"/>
            </a:avLst>
          </a:prstGeom>
          <a:solidFill>
            <a:srgbClr val="0D0810"/>
          </a:solidFill>
          <a:ln w="12700">
            <a:solidFill>
              <a:srgbClr val="3D2040"/>
            </a:solidFill>
            <a:prstDash val="solid"/>
          </a:ln>
        </p:spPr>
      </p:sp>
      <p:sp>
        <p:nvSpPr>
          <p:cNvPr id="35" name="Text 33"/>
          <p:cNvSpPr txBox="1"/>
          <p:nvPr/>
        </p:nvSpPr>
        <p:spPr>
          <a:xfrm>
            <a:off x="594360" y="4663440"/>
            <a:ext cx="7955280" cy="237744"/>
          </a:xfrm>
          <a:prstGeom prst="rect">
            <a:avLst/>
          </a:prstGeom>
          <a:noFill/>
          <a:ln/>
        </p:spPr>
        <p:txBody>
          <a:bodyPr wrap="square" rtlCol="0" anchor="ctr"/>
          <a:lstStyle/>
          <a:p>
            <a:pPr indent="0" marL="0">
              <a:buNone/>
            </a:pPr>
            <a:r>
              <a:rPr lang="en-US" sz="1000" dirty="0">
                <a:solidFill>
                  <a:srgbClr val="F8A5C2"/>
                </a:solidFill>
                <a:latin typeface="Courier New" pitchFamily="34" charset="0"/>
                <a:ea typeface="Courier New" pitchFamily="34" charset="-122"/>
                <a:cs typeface="Courier New" pitchFamily="34" charset="-120"/>
              </a:rPr>
              <a:t>binxaimlinternship-ahm9zn2cc7ebk8gzw7fzhh.streamlit.app</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0B10"/>
          </a:solidFill>
          <a:ln/>
        </p:spPr>
      </p:sp>
      <p:sp>
        <p:nvSpPr>
          <p:cNvPr id="3" name="Text 1"/>
          <p:cNvSpPr txBox="1"/>
          <p:nvPr/>
        </p:nvSpPr>
        <p:spPr>
          <a:xfrm>
            <a:off x="457200" y="256032"/>
            <a:ext cx="8229600" cy="201168"/>
          </a:xfrm>
          <a:prstGeom prst="rect">
            <a:avLst/>
          </a:prstGeom>
          <a:noFill/>
          <a:ln/>
        </p:spPr>
        <p:txBody>
          <a:bodyPr wrap="square" rtlCol="0" anchor="ctr"/>
          <a:lstStyle/>
          <a:p>
            <a:pPr indent="0" marL="0">
              <a:buNone/>
            </a:pPr>
            <a:r>
              <a:rPr lang="en-US" sz="800" b="1" spc="300" kern="0" dirty="0">
                <a:solidFill>
                  <a:srgbClr val="C44569"/>
                </a:solidFill>
              </a:rPr>
              <a:t>LIVE DEMO</a:t>
            </a:r>
            <a:endParaRPr lang="en-US" sz="800" dirty="0"/>
          </a:p>
        </p:txBody>
      </p:sp>
      <p:sp>
        <p:nvSpPr>
          <p:cNvPr id="4" name="Text 2"/>
          <p:cNvSpPr txBox="1"/>
          <p:nvPr/>
        </p:nvSpPr>
        <p:spPr>
          <a:xfrm>
            <a:off x="457200" y="502920"/>
            <a:ext cx="8229600" cy="594360"/>
          </a:xfrm>
          <a:prstGeom prst="rect">
            <a:avLst/>
          </a:prstGeom>
          <a:noFill/>
          <a:ln/>
        </p:spPr>
        <p:txBody>
          <a:bodyPr wrap="square" rtlCol="0" anchor="ctr"/>
          <a:lstStyle/>
          <a:p>
            <a:pPr indent="0" marL="0">
              <a:buNone/>
            </a:pPr>
            <a:r>
              <a:rPr lang="en-US" sz="2400" b="1" dirty="0">
                <a:solidFill>
                  <a:srgbClr val="F8A5C2"/>
                </a:solidFill>
                <a:latin typeface="Georgia" pitchFamily="34" charset="0"/>
                <a:ea typeface="Georgia" pitchFamily="34" charset="-122"/>
                <a:cs typeface="Georgia" pitchFamily="34" charset="-120"/>
              </a:rPr>
              <a:t>Deployed predictions match local — exactly</a:t>
            </a:r>
            <a:endParaRPr lang="en-US" sz="2400" dirty="0"/>
          </a:p>
        </p:txBody>
      </p:sp>
      <p:sp>
        <p:nvSpPr>
          <p:cNvPr id="5" name="Text 3"/>
          <p:cNvSpPr txBox="1"/>
          <p:nvPr/>
        </p:nvSpPr>
        <p:spPr>
          <a:xfrm>
            <a:off x="457200" y="1115568"/>
            <a:ext cx="8229600" cy="365760"/>
          </a:xfrm>
          <a:prstGeom prst="rect">
            <a:avLst/>
          </a:prstGeom>
          <a:noFill/>
          <a:ln/>
        </p:spPr>
        <p:txBody>
          <a:bodyPr wrap="square" rtlCol="0" anchor="ctr"/>
          <a:lstStyle/>
          <a:p>
            <a:pPr indent="0" marL="0">
              <a:buNone/>
            </a:pPr>
            <a:r>
              <a:rPr lang="en-US" sz="1100" dirty="0">
                <a:solidFill>
                  <a:srgbClr val="888888"/>
                </a:solidFill>
              </a:rPr>
              <a:t>3 test images run on both local app and deployed URL. All three matched to 4 decimal places — confirming no training/serving skew.</a:t>
            </a:r>
            <a:endParaRPr lang="en-US" sz="1100" dirty="0"/>
          </a:p>
        </p:txBody>
      </p:sp>
      <p:sp>
        <p:nvSpPr>
          <p:cNvPr id="6" name="Shape 4"/>
          <p:cNvSpPr/>
          <p:nvPr/>
        </p:nvSpPr>
        <p:spPr>
          <a:xfrm>
            <a:off x="457200" y="1572768"/>
            <a:ext cx="2560320" cy="1463040"/>
          </a:xfrm>
          <a:prstGeom prst="roundRect">
            <a:avLst>
              <a:gd name="adj" fmla="val 6250"/>
            </a:avLst>
          </a:prstGeom>
          <a:solidFill>
            <a:srgbClr val="1E0F18"/>
          </a:solidFill>
          <a:ln w="12700">
            <a:solidFill>
              <a:srgbClr val="3D2040"/>
            </a:solidFill>
            <a:prstDash val="solid"/>
          </a:ln>
        </p:spPr>
      </p:sp>
      <p:sp>
        <p:nvSpPr>
          <p:cNvPr id="7" name="Text 5"/>
          <p:cNvSpPr txBox="1"/>
          <p:nvPr/>
        </p:nvSpPr>
        <p:spPr>
          <a:xfrm>
            <a:off x="548640" y="1664208"/>
            <a:ext cx="2377440" cy="256032"/>
          </a:xfrm>
          <a:prstGeom prst="rect">
            <a:avLst/>
          </a:prstGeom>
          <a:noFill/>
          <a:ln/>
        </p:spPr>
        <p:txBody>
          <a:bodyPr wrap="square" rtlCol="0" anchor="ctr"/>
          <a:lstStyle/>
          <a:p>
            <a:pPr algn="ctr" indent="0" marL="0">
              <a:buNone/>
            </a:pPr>
            <a:r>
              <a:rPr lang="en-US" sz="950" spc="200" kern="0" dirty="0">
                <a:solidFill>
                  <a:srgbClr val="888888"/>
                </a:solidFill>
              </a:rPr>
              <a:t>3.jpg</a:t>
            </a:r>
            <a:endParaRPr lang="en-US" sz="950" dirty="0"/>
          </a:p>
        </p:txBody>
      </p:sp>
      <p:sp>
        <p:nvSpPr>
          <p:cNvPr id="8" name="Text 6"/>
          <p:cNvSpPr txBox="1"/>
          <p:nvPr/>
        </p:nvSpPr>
        <p:spPr>
          <a:xfrm>
            <a:off x="548640" y="1938528"/>
            <a:ext cx="2377440" cy="347472"/>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Benign</a:t>
            </a:r>
            <a:endParaRPr lang="en-US" sz="1800" dirty="0"/>
          </a:p>
        </p:txBody>
      </p:sp>
      <p:sp>
        <p:nvSpPr>
          <p:cNvPr id="9" name="Text 7"/>
          <p:cNvSpPr txBox="1"/>
          <p:nvPr/>
        </p:nvSpPr>
        <p:spPr>
          <a:xfrm>
            <a:off x="548640" y="2286000"/>
            <a:ext cx="2377440" cy="256032"/>
          </a:xfrm>
          <a:prstGeom prst="rect">
            <a:avLst/>
          </a:prstGeom>
          <a:noFill/>
          <a:ln/>
        </p:spPr>
        <p:txBody>
          <a:bodyPr wrap="square" rtlCol="0" anchor="ctr"/>
          <a:lstStyle/>
          <a:p>
            <a:pPr algn="ctr" indent="0" marL="0">
              <a:buNone/>
            </a:pPr>
            <a:r>
              <a:rPr lang="en-US" sz="1400" b="1" dirty="0">
                <a:solidFill>
                  <a:srgbClr val="F8A5C2"/>
                </a:solidFill>
              </a:rPr>
              <a:t>61.05%</a:t>
            </a:r>
            <a:endParaRPr lang="en-US" sz="1400" dirty="0"/>
          </a:p>
        </p:txBody>
      </p:sp>
      <p:sp>
        <p:nvSpPr>
          <p:cNvPr id="10" name="Text 8"/>
          <p:cNvSpPr txBox="1"/>
          <p:nvPr/>
        </p:nvSpPr>
        <p:spPr>
          <a:xfrm>
            <a:off x="548640" y="2578608"/>
            <a:ext cx="2377440" cy="219456"/>
          </a:xfrm>
          <a:prstGeom prst="rect">
            <a:avLst/>
          </a:prstGeom>
          <a:noFill/>
          <a:ln/>
        </p:spPr>
        <p:txBody>
          <a:bodyPr wrap="square" rtlCol="0" anchor="ctr"/>
          <a:lstStyle/>
          <a:p>
            <a:pPr algn="ctr" indent="0" marL="0">
              <a:buNone/>
            </a:pPr>
            <a:r>
              <a:rPr lang="en-US" sz="1000" dirty="0">
                <a:solidFill>
                  <a:srgbClr val="52D68A"/>
                </a:solidFill>
              </a:rPr>
              <a:t>✓ Match</a:t>
            </a:r>
            <a:endParaRPr lang="en-US" sz="1000" dirty="0"/>
          </a:p>
        </p:txBody>
      </p:sp>
      <p:sp>
        <p:nvSpPr>
          <p:cNvPr id="11" name="Shape 9"/>
          <p:cNvSpPr/>
          <p:nvPr/>
        </p:nvSpPr>
        <p:spPr>
          <a:xfrm>
            <a:off x="3291840" y="1572768"/>
            <a:ext cx="2560320" cy="1463040"/>
          </a:xfrm>
          <a:prstGeom prst="roundRect">
            <a:avLst>
              <a:gd name="adj" fmla="val 6250"/>
            </a:avLst>
          </a:prstGeom>
          <a:solidFill>
            <a:srgbClr val="1E0F18"/>
          </a:solidFill>
          <a:ln w="12700">
            <a:solidFill>
              <a:srgbClr val="3D2040"/>
            </a:solidFill>
            <a:prstDash val="solid"/>
          </a:ln>
        </p:spPr>
      </p:sp>
      <p:sp>
        <p:nvSpPr>
          <p:cNvPr id="12" name="Text 10"/>
          <p:cNvSpPr txBox="1"/>
          <p:nvPr/>
        </p:nvSpPr>
        <p:spPr>
          <a:xfrm>
            <a:off x="3383280" y="1664208"/>
            <a:ext cx="2377440" cy="256032"/>
          </a:xfrm>
          <a:prstGeom prst="rect">
            <a:avLst/>
          </a:prstGeom>
          <a:noFill/>
          <a:ln/>
        </p:spPr>
        <p:txBody>
          <a:bodyPr wrap="square" rtlCol="0" anchor="ctr"/>
          <a:lstStyle/>
          <a:p>
            <a:pPr algn="ctr" indent="0" marL="0">
              <a:buNone/>
            </a:pPr>
            <a:r>
              <a:rPr lang="en-US" sz="950" spc="200" kern="0" dirty="0">
                <a:solidFill>
                  <a:srgbClr val="888888"/>
                </a:solidFill>
              </a:rPr>
              <a:t>22.jpg</a:t>
            </a:r>
            <a:endParaRPr lang="en-US" sz="950" dirty="0"/>
          </a:p>
        </p:txBody>
      </p:sp>
      <p:sp>
        <p:nvSpPr>
          <p:cNvPr id="13" name="Text 11"/>
          <p:cNvSpPr txBox="1"/>
          <p:nvPr/>
        </p:nvSpPr>
        <p:spPr>
          <a:xfrm>
            <a:off x="3383280" y="1938528"/>
            <a:ext cx="2377440" cy="347472"/>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Benign</a:t>
            </a:r>
            <a:endParaRPr lang="en-US" sz="1800" dirty="0"/>
          </a:p>
        </p:txBody>
      </p:sp>
      <p:sp>
        <p:nvSpPr>
          <p:cNvPr id="14" name="Text 12"/>
          <p:cNvSpPr txBox="1"/>
          <p:nvPr/>
        </p:nvSpPr>
        <p:spPr>
          <a:xfrm>
            <a:off x="3383280" y="2286000"/>
            <a:ext cx="2377440" cy="256032"/>
          </a:xfrm>
          <a:prstGeom prst="rect">
            <a:avLst/>
          </a:prstGeom>
          <a:noFill/>
          <a:ln/>
        </p:spPr>
        <p:txBody>
          <a:bodyPr wrap="square" rtlCol="0" anchor="ctr"/>
          <a:lstStyle/>
          <a:p>
            <a:pPr algn="ctr" indent="0" marL="0">
              <a:buNone/>
            </a:pPr>
            <a:r>
              <a:rPr lang="en-US" sz="1400" b="1" dirty="0">
                <a:solidFill>
                  <a:srgbClr val="F8A5C2"/>
                </a:solidFill>
              </a:rPr>
              <a:t>91.12%</a:t>
            </a:r>
            <a:endParaRPr lang="en-US" sz="1400" dirty="0"/>
          </a:p>
        </p:txBody>
      </p:sp>
      <p:sp>
        <p:nvSpPr>
          <p:cNvPr id="15" name="Text 13"/>
          <p:cNvSpPr txBox="1"/>
          <p:nvPr/>
        </p:nvSpPr>
        <p:spPr>
          <a:xfrm>
            <a:off x="3383280" y="2578608"/>
            <a:ext cx="2377440" cy="219456"/>
          </a:xfrm>
          <a:prstGeom prst="rect">
            <a:avLst/>
          </a:prstGeom>
          <a:noFill/>
          <a:ln/>
        </p:spPr>
        <p:txBody>
          <a:bodyPr wrap="square" rtlCol="0" anchor="ctr"/>
          <a:lstStyle/>
          <a:p>
            <a:pPr algn="ctr" indent="0" marL="0">
              <a:buNone/>
            </a:pPr>
            <a:r>
              <a:rPr lang="en-US" sz="1000" dirty="0">
                <a:solidFill>
                  <a:srgbClr val="52D68A"/>
                </a:solidFill>
              </a:rPr>
              <a:t>✓ Match</a:t>
            </a:r>
            <a:endParaRPr lang="en-US" sz="1000" dirty="0"/>
          </a:p>
        </p:txBody>
      </p:sp>
      <p:sp>
        <p:nvSpPr>
          <p:cNvPr id="16" name="Shape 14"/>
          <p:cNvSpPr/>
          <p:nvPr/>
        </p:nvSpPr>
        <p:spPr>
          <a:xfrm>
            <a:off x="6126480" y="1572768"/>
            <a:ext cx="2560320" cy="1463040"/>
          </a:xfrm>
          <a:prstGeom prst="roundRect">
            <a:avLst>
              <a:gd name="adj" fmla="val 6250"/>
            </a:avLst>
          </a:prstGeom>
          <a:solidFill>
            <a:srgbClr val="1E0F18"/>
          </a:solidFill>
          <a:ln w="12700">
            <a:solidFill>
              <a:srgbClr val="3D2040"/>
            </a:solidFill>
            <a:prstDash val="solid"/>
          </a:ln>
        </p:spPr>
      </p:sp>
      <p:sp>
        <p:nvSpPr>
          <p:cNvPr id="17" name="Text 15"/>
          <p:cNvSpPr txBox="1"/>
          <p:nvPr/>
        </p:nvSpPr>
        <p:spPr>
          <a:xfrm>
            <a:off x="6217920" y="1664208"/>
            <a:ext cx="2377440" cy="256032"/>
          </a:xfrm>
          <a:prstGeom prst="rect">
            <a:avLst/>
          </a:prstGeom>
          <a:noFill/>
          <a:ln/>
        </p:spPr>
        <p:txBody>
          <a:bodyPr wrap="square" rtlCol="0" anchor="ctr"/>
          <a:lstStyle/>
          <a:p>
            <a:pPr algn="ctr" indent="0" marL="0">
              <a:buNone/>
            </a:pPr>
            <a:r>
              <a:rPr lang="en-US" sz="950" spc="200" kern="0" dirty="0">
                <a:solidFill>
                  <a:srgbClr val="888888"/>
                </a:solidFill>
              </a:rPr>
              <a:t>64.jpg</a:t>
            </a:r>
            <a:endParaRPr lang="en-US" sz="950" dirty="0"/>
          </a:p>
        </p:txBody>
      </p:sp>
      <p:sp>
        <p:nvSpPr>
          <p:cNvPr id="18" name="Text 16"/>
          <p:cNvSpPr txBox="1"/>
          <p:nvPr/>
        </p:nvSpPr>
        <p:spPr>
          <a:xfrm>
            <a:off x="6217920" y="1938528"/>
            <a:ext cx="2377440" cy="347472"/>
          </a:xfrm>
          <a:prstGeom prst="rect">
            <a:avLst/>
          </a:prstGeom>
          <a:noFill/>
          <a:ln/>
        </p:spPr>
        <p:txBody>
          <a:bodyPr wrap="square" rtlCol="0" anchor="ctr"/>
          <a:lstStyle/>
          <a:p>
            <a:pPr algn="ctr" indent="0" marL="0">
              <a:buNone/>
            </a:pPr>
            <a:r>
              <a:rPr lang="en-US" sz="1800" b="1" dirty="0">
                <a:solidFill>
                  <a:srgbClr val="FF7799"/>
                </a:solidFill>
                <a:latin typeface="Georgia" pitchFamily="34" charset="0"/>
                <a:ea typeface="Georgia" pitchFamily="34" charset="-122"/>
                <a:cs typeface="Georgia" pitchFamily="34" charset="-120"/>
              </a:rPr>
              <a:t>Malignant</a:t>
            </a:r>
            <a:endParaRPr lang="en-US" sz="1800" dirty="0"/>
          </a:p>
        </p:txBody>
      </p:sp>
      <p:sp>
        <p:nvSpPr>
          <p:cNvPr id="19" name="Text 17"/>
          <p:cNvSpPr txBox="1"/>
          <p:nvPr/>
        </p:nvSpPr>
        <p:spPr>
          <a:xfrm>
            <a:off x="6217920" y="2286000"/>
            <a:ext cx="2377440" cy="256032"/>
          </a:xfrm>
          <a:prstGeom prst="rect">
            <a:avLst/>
          </a:prstGeom>
          <a:noFill/>
          <a:ln/>
        </p:spPr>
        <p:txBody>
          <a:bodyPr wrap="square" rtlCol="0" anchor="ctr"/>
          <a:lstStyle/>
          <a:p>
            <a:pPr algn="ctr" indent="0" marL="0">
              <a:buNone/>
            </a:pPr>
            <a:r>
              <a:rPr lang="en-US" sz="1400" b="1" dirty="0">
                <a:solidFill>
                  <a:srgbClr val="F8A5C2"/>
                </a:solidFill>
              </a:rPr>
              <a:t>99.91%</a:t>
            </a:r>
            <a:endParaRPr lang="en-US" sz="1400" dirty="0"/>
          </a:p>
        </p:txBody>
      </p:sp>
      <p:sp>
        <p:nvSpPr>
          <p:cNvPr id="20" name="Text 18"/>
          <p:cNvSpPr txBox="1"/>
          <p:nvPr/>
        </p:nvSpPr>
        <p:spPr>
          <a:xfrm>
            <a:off x="6217920" y="2578608"/>
            <a:ext cx="2377440" cy="219456"/>
          </a:xfrm>
          <a:prstGeom prst="rect">
            <a:avLst/>
          </a:prstGeom>
          <a:noFill/>
          <a:ln/>
        </p:spPr>
        <p:txBody>
          <a:bodyPr wrap="square" rtlCol="0" anchor="ctr"/>
          <a:lstStyle/>
          <a:p>
            <a:pPr algn="ctr" indent="0" marL="0">
              <a:buNone/>
            </a:pPr>
            <a:r>
              <a:rPr lang="en-US" sz="1000" dirty="0">
                <a:solidFill>
                  <a:srgbClr val="52D68A"/>
                </a:solidFill>
              </a:rPr>
              <a:t>✓ Match</a:t>
            </a:r>
            <a:endParaRPr lang="en-US" sz="1000" dirty="0"/>
          </a:p>
        </p:txBody>
      </p:sp>
      <p:sp>
        <p:nvSpPr>
          <p:cNvPr id="21" name="Shape 19"/>
          <p:cNvSpPr/>
          <p:nvPr/>
        </p:nvSpPr>
        <p:spPr>
          <a:xfrm>
            <a:off x="457200" y="3246120"/>
            <a:ext cx="8229600" cy="548640"/>
          </a:xfrm>
          <a:prstGeom prst="roundRect">
            <a:avLst>
              <a:gd name="adj" fmla="val 13333"/>
            </a:avLst>
          </a:prstGeom>
          <a:solidFill>
            <a:srgbClr val="1A0F18"/>
          </a:solidFill>
          <a:ln w="12700">
            <a:solidFill>
              <a:srgbClr val="C44569"/>
            </a:solidFill>
            <a:prstDash val="solid"/>
          </a:ln>
        </p:spPr>
      </p:sp>
      <p:sp>
        <p:nvSpPr>
          <p:cNvPr id="22" name="Text 20"/>
          <p:cNvSpPr txBox="1"/>
          <p:nvPr/>
        </p:nvSpPr>
        <p:spPr>
          <a:xfrm>
            <a:off x="594360" y="3310128"/>
            <a:ext cx="7955280" cy="420624"/>
          </a:xfrm>
          <a:prstGeom prst="rect">
            <a:avLst/>
          </a:prstGeom>
          <a:noFill/>
          <a:ln/>
        </p:spPr>
        <p:txBody>
          <a:bodyPr wrap="square" rtlCol="0" anchor="ctr"/>
          <a:lstStyle/>
          <a:p>
            <a:pPr indent="0" marL="0">
              <a:buNone/>
            </a:pPr>
            <a:r>
              <a:rPr lang="en-US" sz="1000" dirty="0">
                <a:solidFill>
                  <a:srgbClr val="AAAAAA"/>
                </a:solidFill>
              </a:rPr>
              <a:t>Key rule: inference preprocessing must match training exactly. Resize → 112×112, normalize ÷ 255.0, add batch dimension — applied identically in training, FastAPI, and Streamlit.</a:t>
            </a:r>
            <a:endParaRPr lang="en-US" sz="1000" dirty="0"/>
          </a:p>
        </p:txBody>
      </p:sp>
      <p:sp>
        <p:nvSpPr>
          <p:cNvPr id="23" name="Shape 21"/>
          <p:cNvSpPr/>
          <p:nvPr/>
        </p:nvSpPr>
        <p:spPr>
          <a:xfrm>
            <a:off x="457200" y="3977640"/>
            <a:ext cx="8229600" cy="320040"/>
          </a:xfrm>
          <a:prstGeom prst="roundRect">
            <a:avLst>
              <a:gd name="adj" fmla="val 22857"/>
            </a:avLst>
          </a:prstGeom>
          <a:solidFill>
            <a:srgbClr val="0D0810"/>
          </a:solidFill>
          <a:ln w="12700">
            <a:solidFill>
              <a:srgbClr val="3D2040"/>
            </a:solidFill>
            <a:prstDash val="solid"/>
          </a:ln>
        </p:spPr>
      </p:sp>
      <p:sp>
        <p:nvSpPr>
          <p:cNvPr id="24" name="Text 22"/>
          <p:cNvSpPr txBox="1"/>
          <p:nvPr/>
        </p:nvSpPr>
        <p:spPr>
          <a:xfrm>
            <a:off x="594360" y="4023360"/>
            <a:ext cx="7955280" cy="237744"/>
          </a:xfrm>
          <a:prstGeom prst="rect">
            <a:avLst/>
          </a:prstGeom>
          <a:noFill/>
          <a:ln/>
        </p:spPr>
        <p:txBody>
          <a:bodyPr wrap="square" rtlCol="0" anchor="ctr"/>
          <a:lstStyle/>
          <a:p>
            <a:pPr indent="0" marL="0">
              <a:buNone/>
            </a:pPr>
            <a:r>
              <a:rPr lang="en-US" sz="1000" dirty="0">
                <a:solidFill>
                  <a:srgbClr val="F8A5C2"/>
                </a:solidFill>
                <a:latin typeface="Courier New" pitchFamily="34" charset="0"/>
                <a:ea typeface="Courier New" pitchFamily="34" charset="-122"/>
                <a:cs typeface="Courier New" pitchFamily="34" charset="-120"/>
              </a:rPr>
              <a:t>Live app → binxaimlinternship-ahm9zn2cc7ebk8gzw7fzhh.streamlit.app</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DFBFC"/>
          </a:solidFill>
          <a:ln/>
        </p:spPr>
      </p:sp>
      <p:sp>
        <p:nvSpPr>
          <p:cNvPr id="3" name="Text 1"/>
          <p:cNvSpPr txBox="1"/>
          <p:nvPr/>
        </p:nvSpPr>
        <p:spPr>
          <a:xfrm>
            <a:off x="457200" y="256032"/>
            <a:ext cx="8229600" cy="201168"/>
          </a:xfrm>
          <a:prstGeom prst="rect">
            <a:avLst/>
          </a:prstGeom>
          <a:noFill/>
          <a:ln/>
        </p:spPr>
        <p:txBody>
          <a:bodyPr wrap="square" rtlCol="0" anchor="ctr"/>
          <a:lstStyle/>
          <a:p>
            <a:pPr indent="0" marL="0">
              <a:buNone/>
            </a:pPr>
            <a:r>
              <a:rPr lang="en-US" sz="800" b="1" spc="300" kern="0" dirty="0">
                <a:solidFill>
                  <a:srgbClr val="C44569"/>
                </a:solidFill>
              </a:rPr>
              <a:t>VISUAL RESULTS</a:t>
            </a:r>
            <a:endParaRPr lang="en-US" sz="800" dirty="0"/>
          </a:p>
        </p:txBody>
      </p:sp>
      <p:sp>
        <p:nvSpPr>
          <p:cNvPr id="4" name="Text 2"/>
          <p:cNvSpPr txBox="1"/>
          <p:nvPr/>
        </p:nvSpPr>
        <p:spPr>
          <a:xfrm>
            <a:off x="457200" y="502920"/>
            <a:ext cx="8229600" cy="640080"/>
          </a:xfrm>
          <a:prstGeom prst="rect">
            <a:avLst/>
          </a:prstGeom>
          <a:noFill/>
          <a:ln/>
        </p:spPr>
        <p:txBody>
          <a:bodyPr wrap="square" rtlCol="0" anchor="ctr"/>
          <a:lstStyle/>
          <a:p>
            <a:pPr indent="0" marL="0">
              <a:buNone/>
            </a:pPr>
            <a:r>
              <a:rPr lang="en-US" sz="2200" b="1" dirty="0">
                <a:solidFill>
                  <a:srgbClr val="8B1E3F"/>
                </a:solidFill>
                <a:latin typeface="Georgia" pitchFamily="34" charset="0"/>
                <a:ea typeface="Georgia" pitchFamily="34" charset="-122"/>
                <a:cs typeface="Georgia" pitchFamily="34" charset="-120"/>
              </a:rPr>
              <a:t>Training curves &amp; live predictions</a:t>
            </a:r>
            <a:endParaRPr lang="en-US" sz="2200" dirty="0"/>
          </a:p>
        </p:txBody>
      </p:sp>
      <p:sp>
        <p:nvSpPr>
          <p:cNvPr id="5" name="Text 3"/>
          <p:cNvSpPr txBox="1"/>
          <p:nvPr/>
        </p:nvSpPr>
        <p:spPr>
          <a:xfrm>
            <a:off x="457200" y="1234440"/>
            <a:ext cx="8229600" cy="182880"/>
          </a:xfrm>
          <a:prstGeom prst="rect">
            <a:avLst/>
          </a:prstGeom>
          <a:noFill/>
          <a:ln/>
        </p:spPr>
        <p:txBody>
          <a:bodyPr wrap="square" rtlCol="0" anchor="ctr"/>
          <a:lstStyle/>
          <a:p>
            <a:pPr indent="0" marL="0">
              <a:buNone/>
            </a:pPr>
            <a:r>
              <a:rPr lang="en-US" sz="800" b="1" spc="200" kern="0" dirty="0">
                <a:solidFill>
                  <a:srgbClr val="6D3B52"/>
                </a:solidFill>
              </a:rPr>
              <a:t>CNN + DATA AUGMENTATION — TRAINING CURVES (25 EPOCHS)</a:t>
            </a:r>
            <a:endParaRPr lang="en-US" sz="800" dirty="0"/>
          </a:p>
        </p:txBody>
      </p:sp>
      <p:pic>
        <p:nvPicPr>
          <p:cNvPr id="6" name="Image 0" descr="preencoded.png">    </p:cNvPr>
          <p:cNvPicPr>
            <a:picLocks noChangeAspect="1"/>
          </p:cNvPicPr>
          <p:nvPr/>
        </p:nvPicPr>
        <p:blipFill>
          <a:blip r:embed="rId1"/>
          <a:stretch>
            <a:fillRect/>
          </a:stretch>
        </p:blipFill>
        <p:spPr>
          <a:xfrm>
            <a:off x="457200" y="1444752"/>
            <a:ext cx="8229600" cy="1572768"/>
          </a:xfrm>
          <a:prstGeom prst="rect">
            <a:avLst/>
          </a:prstGeom>
        </p:spPr>
      </p:pic>
      <p:sp>
        <p:nvSpPr>
          <p:cNvPr id="7" name="Text 4"/>
          <p:cNvSpPr txBox="1"/>
          <p:nvPr/>
        </p:nvSpPr>
        <p:spPr>
          <a:xfrm>
            <a:off x="457200" y="3127248"/>
            <a:ext cx="2651760" cy="182880"/>
          </a:xfrm>
          <a:prstGeom prst="rect">
            <a:avLst/>
          </a:prstGeom>
          <a:noFill/>
          <a:ln/>
        </p:spPr>
        <p:txBody>
          <a:bodyPr wrap="square" rtlCol="0" anchor="ctr"/>
          <a:lstStyle/>
          <a:p>
            <a:pPr indent="0" marL="0">
              <a:buNone/>
            </a:pPr>
            <a:r>
              <a:rPr lang="en-US" sz="800" b="1" spc="100" kern="0" dirty="0">
                <a:solidFill>
                  <a:srgbClr val="6D3B52"/>
                </a:solidFill>
              </a:rPr>
              <a:t>3.jpg — BENIGN · 61.05%</a:t>
            </a:r>
            <a:endParaRPr lang="en-US" sz="800" dirty="0"/>
          </a:p>
        </p:txBody>
      </p:sp>
      <p:pic>
        <p:nvPicPr>
          <p:cNvPr id="8" name="Image 1" descr="preencoded.png">    </p:cNvPr>
          <p:cNvPicPr>
            <a:picLocks noChangeAspect="1"/>
          </p:cNvPicPr>
          <p:nvPr/>
        </p:nvPicPr>
        <p:blipFill>
          <a:blip r:embed="rId2"/>
          <a:stretch>
            <a:fillRect/>
          </a:stretch>
        </p:blipFill>
        <p:spPr>
          <a:xfrm>
            <a:off x="457200" y="3337560"/>
            <a:ext cx="2651760" cy="1572768"/>
          </a:xfrm>
          <a:prstGeom prst="rect">
            <a:avLst/>
          </a:prstGeom>
        </p:spPr>
      </p:pic>
      <p:sp>
        <p:nvSpPr>
          <p:cNvPr id="9" name="Text 5"/>
          <p:cNvSpPr txBox="1"/>
          <p:nvPr/>
        </p:nvSpPr>
        <p:spPr>
          <a:xfrm>
            <a:off x="3291840" y="3127248"/>
            <a:ext cx="2651760" cy="182880"/>
          </a:xfrm>
          <a:prstGeom prst="rect">
            <a:avLst/>
          </a:prstGeom>
          <a:noFill/>
          <a:ln/>
        </p:spPr>
        <p:txBody>
          <a:bodyPr wrap="square" rtlCol="0" anchor="ctr"/>
          <a:lstStyle/>
          <a:p>
            <a:pPr indent="0" marL="0">
              <a:buNone/>
            </a:pPr>
            <a:r>
              <a:rPr lang="en-US" sz="800" b="1" spc="100" kern="0" dirty="0">
                <a:solidFill>
                  <a:srgbClr val="6D3B52"/>
                </a:solidFill>
              </a:rPr>
              <a:t>22.jpg — BENIGN · 91.12%</a:t>
            </a:r>
            <a:endParaRPr lang="en-US" sz="800" dirty="0"/>
          </a:p>
        </p:txBody>
      </p:sp>
      <p:pic>
        <p:nvPicPr>
          <p:cNvPr id="10" name="Image 2" descr="preencoded.png">    </p:cNvPr>
          <p:cNvPicPr>
            <a:picLocks noChangeAspect="1"/>
          </p:cNvPicPr>
          <p:nvPr/>
        </p:nvPicPr>
        <p:blipFill>
          <a:blip r:embed="rId3"/>
          <a:stretch>
            <a:fillRect/>
          </a:stretch>
        </p:blipFill>
        <p:spPr>
          <a:xfrm>
            <a:off x="3291840" y="3337560"/>
            <a:ext cx="2651760" cy="1572768"/>
          </a:xfrm>
          <a:prstGeom prst="rect">
            <a:avLst/>
          </a:prstGeom>
        </p:spPr>
      </p:pic>
      <p:sp>
        <p:nvSpPr>
          <p:cNvPr id="11" name="Text 6"/>
          <p:cNvSpPr txBox="1"/>
          <p:nvPr/>
        </p:nvSpPr>
        <p:spPr>
          <a:xfrm>
            <a:off x="6126480" y="3127248"/>
            <a:ext cx="2651760" cy="182880"/>
          </a:xfrm>
          <a:prstGeom prst="rect">
            <a:avLst/>
          </a:prstGeom>
          <a:noFill/>
          <a:ln/>
        </p:spPr>
        <p:txBody>
          <a:bodyPr wrap="square" rtlCol="0" anchor="ctr"/>
          <a:lstStyle/>
          <a:p>
            <a:pPr indent="0" marL="0">
              <a:buNone/>
            </a:pPr>
            <a:r>
              <a:rPr lang="en-US" sz="800" b="1" spc="100" kern="0" dirty="0">
                <a:solidFill>
                  <a:srgbClr val="8B1E3F"/>
                </a:solidFill>
              </a:rPr>
              <a:t>64.jpg — MALIGNANT · 99.91% ⚠</a:t>
            </a:r>
            <a:endParaRPr lang="en-US" sz="800" dirty="0"/>
          </a:p>
        </p:txBody>
      </p:sp>
      <p:pic>
        <p:nvPicPr>
          <p:cNvPr id="12" name="Image 3" descr="preencoded.png">    </p:cNvPr>
          <p:cNvPicPr>
            <a:picLocks noChangeAspect="1"/>
          </p:cNvPicPr>
          <p:nvPr/>
        </p:nvPicPr>
        <p:blipFill>
          <a:blip r:embed="rId4"/>
          <a:stretch>
            <a:fillRect/>
          </a:stretch>
        </p:blipFill>
        <p:spPr>
          <a:xfrm>
            <a:off x="6126480" y="3337560"/>
            <a:ext cx="2651760" cy="1572768"/>
          </a:xfrm>
          <a:prstGeom prst="rect">
            <a:avLst/>
          </a:prstGeom>
        </p:spPr>
      </p:pic>
      <p:sp>
        <p:nvSpPr>
          <p:cNvPr id="13" name="Shape 7"/>
          <p:cNvSpPr/>
          <p:nvPr/>
        </p:nvSpPr>
        <p:spPr>
          <a:xfrm>
            <a:off x="6126480" y="3337560"/>
            <a:ext cx="2651760" cy="1572768"/>
          </a:xfrm>
          <a:prstGeom prst="roundRect">
            <a:avLst/>
          </a:prstGeom>
          <a:ln w="12700">
            <a:solidFill>
              <a:srgbClr val="8B1E3F"/>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DFBFC"/>
          </a:solidFill>
          <a:ln/>
        </p:spPr>
      </p:sp>
      <p:sp>
        <p:nvSpPr>
          <p:cNvPr id="3" name="Text 1"/>
          <p:cNvSpPr txBox="1"/>
          <p:nvPr/>
        </p:nvSpPr>
        <p:spPr>
          <a:xfrm>
            <a:off x="457200" y="256032"/>
            <a:ext cx="8229600" cy="201168"/>
          </a:xfrm>
          <a:prstGeom prst="rect">
            <a:avLst/>
          </a:prstGeom>
          <a:noFill/>
          <a:ln/>
        </p:spPr>
        <p:txBody>
          <a:bodyPr wrap="square" rtlCol="0" anchor="ctr"/>
          <a:lstStyle/>
          <a:p>
            <a:pPr indent="0" marL="0">
              <a:buNone/>
            </a:pPr>
            <a:r>
              <a:rPr lang="en-US" sz="800" b="1" spc="300" kern="0" dirty="0">
                <a:solidFill>
                  <a:srgbClr val="C44569"/>
                </a:solidFill>
              </a:rPr>
              <a:t>LIMITATIONS &amp; FUTURE WORK</a:t>
            </a:r>
            <a:endParaRPr lang="en-US" sz="800" dirty="0"/>
          </a:p>
        </p:txBody>
      </p:sp>
      <p:sp>
        <p:nvSpPr>
          <p:cNvPr id="4" name="Text 2"/>
          <p:cNvSpPr txBox="1"/>
          <p:nvPr/>
        </p:nvSpPr>
        <p:spPr>
          <a:xfrm>
            <a:off x="457200" y="502920"/>
            <a:ext cx="8229600" cy="640080"/>
          </a:xfrm>
          <a:prstGeom prst="rect">
            <a:avLst/>
          </a:prstGeom>
          <a:noFill/>
          <a:ln/>
        </p:spPr>
        <p:txBody>
          <a:bodyPr wrap="square" rtlCol="0" anchor="ctr"/>
          <a:lstStyle/>
          <a:p>
            <a:pPr indent="0" marL="0">
              <a:buNone/>
            </a:pPr>
            <a:r>
              <a:rPr lang="en-US" sz="2800" b="1" dirty="0">
                <a:solidFill>
                  <a:srgbClr val="8B1E3F"/>
                </a:solidFill>
                <a:latin typeface="Georgia" pitchFamily="34" charset="0"/>
                <a:ea typeface="Georgia" pitchFamily="34" charset="-122"/>
                <a:cs typeface="Georgia" pitchFamily="34" charset="-120"/>
              </a:rPr>
              <a:t>Honest assessment and next steps</a:t>
            </a:r>
            <a:endParaRPr lang="en-US" sz="2800" dirty="0"/>
          </a:p>
        </p:txBody>
      </p:sp>
      <p:sp>
        <p:nvSpPr>
          <p:cNvPr id="5" name="Shape 3"/>
          <p:cNvSpPr/>
          <p:nvPr/>
        </p:nvSpPr>
        <p:spPr>
          <a:xfrm>
            <a:off x="457200" y="1261872"/>
            <a:ext cx="3977640" cy="3611880"/>
          </a:xfrm>
          <a:prstGeom prst="roundRect">
            <a:avLst>
              <a:gd name="adj" fmla="val 3038"/>
            </a:avLst>
          </a:prstGeom>
          <a:solidFill>
            <a:srgbClr val="F2EAF0"/>
          </a:solidFill>
          <a:ln w="12700">
            <a:solidFill>
              <a:srgbClr val="E5D0DC"/>
            </a:solidFill>
            <a:prstDash val="solid"/>
          </a:ln>
        </p:spPr>
      </p:sp>
      <p:sp>
        <p:nvSpPr>
          <p:cNvPr id="6" name="Text 4"/>
          <p:cNvSpPr txBox="1"/>
          <p:nvPr/>
        </p:nvSpPr>
        <p:spPr>
          <a:xfrm>
            <a:off x="640080" y="1389888"/>
            <a:ext cx="3566160" cy="274320"/>
          </a:xfrm>
          <a:prstGeom prst="rect">
            <a:avLst/>
          </a:prstGeom>
          <a:noFill/>
          <a:ln/>
        </p:spPr>
        <p:txBody>
          <a:bodyPr wrap="square" rtlCol="0" anchor="ctr"/>
          <a:lstStyle/>
          <a:p>
            <a:pPr indent="0" marL="0">
              <a:buNone/>
            </a:pPr>
            <a:r>
              <a:rPr lang="en-US" sz="1200" b="1" dirty="0">
                <a:solidFill>
                  <a:srgbClr val="8B1E3F"/>
                </a:solidFill>
              </a:rPr>
              <a:t>Current Limitations</a:t>
            </a:r>
            <a:endParaRPr lang="en-US" sz="1200" dirty="0"/>
          </a:p>
        </p:txBody>
      </p:sp>
      <p:sp>
        <p:nvSpPr>
          <p:cNvPr id="7" name="Shape 5"/>
          <p:cNvSpPr/>
          <p:nvPr/>
        </p:nvSpPr>
        <p:spPr>
          <a:xfrm>
            <a:off x="658368" y="1883664"/>
            <a:ext cx="91440" cy="91440"/>
          </a:xfrm>
          <a:prstGeom prst="ellipse">
            <a:avLst/>
          </a:prstGeom>
          <a:solidFill>
            <a:srgbClr val="C44569"/>
          </a:solidFill>
          <a:ln/>
        </p:spPr>
      </p:sp>
      <p:sp>
        <p:nvSpPr>
          <p:cNvPr id="8" name="Text 6"/>
          <p:cNvSpPr txBox="1"/>
          <p:nvPr/>
        </p:nvSpPr>
        <p:spPr>
          <a:xfrm>
            <a:off x="841248" y="1828800"/>
            <a:ext cx="3383280" cy="530352"/>
          </a:xfrm>
          <a:prstGeom prst="rect">
            <a:avLst/>
          </a:prstGeom>
          <a:noFill/>
          <a:ln/>
        </p:spPr>
        <p:txBody>
          <a:bodyPr wrap="square" rtlCol="0" anchor="ctr"/>
          <a:lstStyle/>
          <a:p>
            <a:pPr indent="0" marL="0">
              <a:lnSpc>
                <a:spcPct val="130000"/>
              </a:lnSpc>
              <a:buNone/>
            </a:pPr>
            <a:r>
              <a:rPr lang="en-US" sz="1050" dirty="0">
                <a:solidFill>
                  <a:srgbClr val="3D2535"/>
                </a:solidFill>
              </a:rPr>
              <a:t>Evaluated on one dataset — generalization unverified</a:t>
            </a:r>
            <a:endParaRPr lang="en-US" sz="1050" dirty="0"/>
          </a:p>
        </p:txBody>
      </p:sp>
      <p:sp>
        <p:nvSpPr>
          <p:cNvPr id="9" name="Shape 7"/>
          <p:cNvSpPr/>
          <p:nvPr/>
        </p:nvSpPr>
        <p:spPr>
          <a:xfrm>
            <a:off x="658368" y="2487168"/>
            <a:ext cx="91440" cy="91440"/>
          </a:xfrm>
          <a:prstGeom prst="ellipse">
            <a:avLst/>
          </a:prstGeom>
          <a:solidFill>
            <a:srgbClr val="C44569"/>
          </a:solidFill>
          <a:ln/>
        </p:spPr>
      </p:sp>
      <p:sp>
        <p:nvSpPr>
          <p:cNvPr id="10" name="Text 8"/>
          <p:cNvSpPr txBox="1"/>
          <p:nvPr/>
        </p:nvSpPr>
        <p:spPr>
          <a:xfrm>
            <a:off x="841248" y="2432304"/>
            <a:ext cx="3383280" cy="530352"/>
          </a:xfrm>
          <a:prstGeom prst="rect">
            <a:avLst/>
          </a:prstGeom>
          <a:noFill/>
          <a:ln/>
        </p:spPr>
        <p:txBody>
          <a:bodyPr wrap="square" rtlCol="0" anchor="ctr"/>
          <a:lstStyle/>
          <a:p>
            <a:pPr indent="0" marL="0">
              <a:lnSpc>
                <a:spcPct val="130000"/>
              </a:lnSpc>
              <a:buNone/>
            </a:pPr>
            <a:r>
              <a:rPr lang="en-US" sz="1050" dirty="0">
                <a:solidFill>
                  <a:srgbClr val="3D2535"/>
                </a:solidFill>
              </a:rPr>
              <a:t>Images resized to 112×112 — some detail lost</a:t>
            </a:r>
            <a:endParaRPr lang="en-US" sz="1050" dirty="0"/>
          </a:p>
        </p:txBody>
      </p:sp>
      <p:sp>
        <p:nvSpPr>
          <p:cNvPr id="11" name="Shape 9"/>
          <p:cNvSpPr/>
          <p:nvPr/>
        </p:nvSpPr>
        <p:spPr>
          <a:xfrm>
            <a:off x="658368" y="3090672"/>
            <a:ext cx="91440" cy="91440"/>
          </a:xfrm>
          <a:prstGeom prst="ellipse">
            <a:avLst/>
          </a:prstGeom>
          <a:solidFill>
            <a:srgbClr val="C44569"/>
          </a:solidFill>
          <a:ln/>
        </p:spPr>
      </p:sp>
      <p:sp>
        <p:nvSpPr>
          <p:cNvPr id="12" name="Text 10"/>
          <p:cNvSpPr txBox="1"/>
          <p:nvPr/>
        </p:nvSpPr>
        <p:spPr>
          <a:xfrm>
            <a:off x="841248" y="3035808"/>
            <a:ext cx="3383280" cy="530352"/>
          </a:xfrm>
          <a:prstGeom prst="rect">
            <a:avLst/>
          </a:prstGeom>
          <a:noFill/>
          <a:ln/>
        </p:spPr>
        <p:txBody>
          <a:bodyPr wrap="square" rtlCol="0" anchor="ctr"/>
          <a:lstStyle/>
          <a:p>
            <a:pPr indent="0" marL="0">
              <a:lnSpc>
                <a:spcPct val="130000"/>
              </a:lnSpc>
              <a:buNone/>
            </a:pPr>
            <a:r>
              <a:rPr lang="en-US" sz="1050" dirty="0">
                <a:solidFill>
                  <a:srgbClr val="3D2535"/>
                </a:solidFill>
              </a:rPr>
              <a:t>MobileNetV2 frozen layers only — fine-tuning not tested</a:t>
            </a:r>
            <a:endParaRPr lang="en-US" sz="1050" dirty="0"/>
          </a:p>
        </p:txBody>
      </p:sp>
      <p:sp>
        <p:nvSpPr>
          <p:cNvPr id="13" name="Shape 11"/>
          <p:cNvSpPr/>
          <p:nvPr/>
        </p:nvSpPr>
        <p:spPr>
          <a:xfrm>
            <a:off x="658368" y="3694176"/>
            <a:ext cx="91440" cy="91440"/>
          </a:xfrm>
          <a:prstGeom prst="ellipse">
            <a:avLst/>
          </a:prstGeom>
          <a:solidFill>
            <a:srgbClr val="C44569"/>
          </a:solidFill>
          <a:ln/>
        </p:spPr>
      </p:sp>
      <p:sp>
        <p:nvSpPr>
          <p:cNvPr id="14" name="Text 12"/>
          <p:cNvSpPr txBox="1"/>
          <p:nvPr/>
        </p:nvSpPr>
        <p:spPr>
          <a:xfrm>
            <a:off x="841248" y="3639312"/>
            <a:ext cx="3383280" cy="530352"/>
          </a:xfrm>
          <a:prstGeom prst="rect">
            <a:avLst/>
          </a:prstGeom>
          <a:noFill/>
          <a:ln/>
        </p:spPr>
        <p:txBody>
          <a:bodyPr wrap="square" rtlCol="0" anchor="ctr"/>
          <a:lstStyle/>
          <a:p>
            <a:pPr indent="0" marL="0">
              <a:lnSpc>
                <a:spcPct val="130000"/>
              </a:lnSpc>
              <a:buNone/>
            </a:pPr>
            <a:r>
              <a:rPr lang="en-US" sz="1050" dirty="0">
                <a:solidFill>
                  <a:srgbClr val="3D2535"/>
                </a:solidFill>
              </a:rPr>
              <a:t>3 test images for live verification — not statistical</a:t>
            </a:r>
            <a:endParaRPr lang="en-US" sz="1050" dirty="0"/>
          </a:p>
        </p:txBody>
      </p:sp>
      <p:sp>
        <p:nvSpPr>
          <p:cNvPr id="15" name="Shape 13"/>
          <p:cNvSpPr/>
          <p:nvPr/>
        </p:nvSpPr>
        <p:spPr>
          <a:xfrm>
            <a:off x="658368" y="4297680"/>
            <a:ext cx="91440" cy="91440"/>
          </a:xfrm>
          <a:prstGeom prst="ellipse">
            <a:avLst/>
          </a:prstGeom>
          <a:solidFill>
            <a:srgbClr val="C44569"/>
          </a:solidFill>
          <a:ln/>
        </p:spPr>
      </p:sp>
      <p:sp>
        <p:nvSpPr>
          <p:cNvPr id="16" name="Text 14"/>
          <p:cNvSpPr txBox="1"/>
          <p:nvPr/>
        </p:nvSpPr>
        <p:spPr>
          <a:xfrm>
            <a:off x="841248" y="4242816"/>
            <a:ext cx="3383280" cy="530352"/>
          </a:xfrm>
          <a:prstGeom prst="rect">
            <a:avLst/>
          </a:prstGeom>
          <a:noFill/>
          <a:ln/>
        </p:spPr>
        <p:txBody>
          <a:bodyPr wrap="square" rtlCol="0" anchor="ctr"/>
          <a:lstStyle/>
          <a:p>
            <a:pPr indent="0" marL="0">
              <a:lnSpc>
                <a:spcPct val="130000"/>
              </a:lnSpc>
              <a:buNone/>
            </a:pPr>
            <a:r>
              <a:rPr lang="en-US" sz="1050" dirty="0">
                <a:solidFill>
                  <a:srgbClr val="3D2535"/>
                </a:solidFill>
              </a:rPr>
              <a:t>No clinical validation — not a diagnostic tool</a:t>
            </a:r>
            <a:endParaRPr lang="en-US" sz="1050" dirty="0"/>
          </a:p>
        </p:txBody>
      </p:sp>
      <p:sp>
        <p:nvSpPr>
          <p:cNvPr id="17" name="Shape 15"/>
          <p:cNvSpPr/>
          <p:nvPr/>
        </p:nvSpPr>
        <p:spPr>
          <a:xfrm>
            <a:off x="4800600" y="1261872"/>
            <a:ext cx="3977640" cy="3611880"/>
          </a:xfrm>
          <a:prstGeom prst="roundRect">
            <a:avLst>
              <a:gd name="adj" fmla="val 3038"/>
            </a:avLst>
          </a:prstGeom>
          <a:solidFill>
            <a:srgbClr val="F2EAF0"/>
          </a:solidFill>
          <a:ln w="12700">
            <a:solidFill>
              <a:srgbClr val="E5D0DC"/>
            </a:solidFill>
            <a:prstDash val="solid"/>
          </a:ln>
        </p:spPr>
      </p:sp>
      <p:sp>
        <p:nvSpPr>
          <p:cNvPr id="18" name="Text 16"/>
          <p:cNvSpPr txBox="1"/>
          <p:nvPr/>
        </p:nvSpPr>
        <p:spPr>
          <a:xfrm>
            <a:off x="4983480" y="1389888"/>
            <a:ext cx="3566160" cy="274320"/>
          </a:xfrm>
          <a:prstGeom prst="rect">
            <a:avLst/>
          </a:prstGeom>
          <a:noFill/>
          <a:ln/>
        </p:spPr>
        <p:txBody>
          <a:bodyPr wrap="square" rtlCol="0" anchor="ctr"/>
          <a:lstStyle/>
          <a:p>
            <a:pPr indent="0" marL="0">
              <a:buNone/>
            </a:pPr>
            <a:r>
              <a:rPr lang="en-US" sz="1200" b="1" dirty="0">
                <a:solidFill>
                  <a:srgbClr val="8B1E3F"/>
                </a:solidFill>
              </a:rPr>
              <a:t>Identified Next Steps</a:t>
            </a:r>
            <a:endParaRPr lang="en-US" sz="1200" dirty="0"/>
          </a:p>
        </p:txBody>
      </p:sp>
      <p:sp>
        <p:nvSpPr>
          <p:cNvPr id="19" name="Shape 17"/>
          <p:cNvSpPr/>
          <p:nvPr/>
        </p:nvSpPr>
        <p:spPr>
          <a:xfrm>
            <a:off x="5001768" y="1883664"/>
            <a:ext cx="91440" cy="91440"/>
          </a:xfrm>
          <a:prstGeom prst="ellipse">
            <a:avLst/>
          </a:prstGeom>
          <a:solidFill>
            <a:srgbClr val="C44569"/>
          </a:solidFill>
          <a:ln/>
        </p:spPr>
      </p:sp>
      <p:sp>
        <p:nvSpPr>
          <p:cNvPr id="20" name="Text 18"/>
          <p:cNvSpPr txBox="1"/>
          <p:nvPr/>
        </p:nvSpPr>
        <p:spPr>
          <a:xfrm>
            <a:off x="5184648" y="1828800"/>
            <a:ext cx="3383280" cy="530352"/>
          </a:xfrm>
          <a:prstGeom prst="rect">
            <a:avLst/>
          </a:prstGeom>
          <a:noFill/>
          <a:ln/>
        </p:spPr>
        <p:txBody>
          <a:bodyPr wrap="square" rtlCol="0" anchor="ctr"/>
          <a:lstStyle/>
          <a:p>
            <a:pPr indent="0" marL="0">
              <a:lnSpc>
                <a:spcPct val="130000"/>
              </a:lnSpc>
              <a:buNone/>
            </a:pPr>
            <a:r>
              <a:rPr lang="en-US" sz="1050" dirty="0">
                <a:solidFill>
                  <a:srgbClr val="3D2535"/>
                </a:solidFill>
              </a:rPr>
              <a:t>Fine-tune MobileNetV2 pretrained layers on melanoma data</a:t>
            </a:r>
            <a:endParaRPr lang="en-US" sz="1050" dirty="0"/>
          </a:p>
        </p:txBody>
      </p:sp>
      <p:sp>
        <p:nvSpPr>
          <p:cNvPr id="21" name="Shape 19"/>
          <p:cNvSpPr/>
          <p:nvPr/>
        </p:nvSpPr>
        <p:spPr>
          <a:xfrm>
            <a:off x="5001768" y="2487168"/>
            <a:ext cx="91440" cy="91440"/>
          </a:xfrm>
          <a:prstGeom prst="ellipse">
            <a:avLst/>
          </a:prstGeom>
          <a:solidFill>
            <a:srgbClr val="C44569"/>
          </a:solidFill>
          <a:ln/>
        </p:spPr>
      </p:sp>
      <p:sp>
        <p:nvSpPr>
          <p:cNvPr id="22" name="Text 20"/>
          <p:cNvSpPr txBox="1"/>
          <p:nvPr/>
        </p:nvSpPr>
        <p:spPr>
          <a:xfrm>
            <a:off x="5184648" y="2432304"/>
            <a:ext cx="3383280" cy="530352"/>
          </a:xfrm>
          <a:prstGeom prst="rect">
            <a:avLst/>
          </a:prstGeom>
          <a:noFill/>
          <a:ln/>
        </p:spPr>
        <p:txBody>
          <a:bodyPr wrap="square" rtlCol="0" anchor="ctr"/>
          <a:lstStyle/>
          <a:p>
            <a:pPr indent="0" marL="0">
              <a:lnSpc>
                <a:spcPct val="130000"/>
              </a:lnSpc>
              <a:buNone/>
            </a:pPr>
            <a:r>
              <a:rPr lang="en-US" sz="1050" dirty="0">
                <a:solidFill>
                  <a:srgbClr val="3D2535"/>
                </a:solidFill>
              </a:rPr>
              <a:t>Evaluate at higher resolutions (224×224)</a:t>
            </a:r>
            <a:endParaRPr lang="en-US" sz="1050" dirty="0"/>
          </a:p>
        </p:txBody>
      </p:sp>
      <p:sp>
        <p:nvSpPr>
          <p:cNvPr id="23" name="Shape 21"/>
          <p:cNvSpPr/>
          <p:nvPr/>
        </p:nvSpPr>
        <p:spPr>
          <a:xfrm>
            <a:off x="5001768" y="3090672"/>
            <a:ext cx="91440" cy="91440"/>
          </a:xfrm>
          <a:prstGeom prst="ellipse">
            <a:avLst/>
          </a:prstGeom>
          <a:solidFill>
            <a:srgbClr val="C44569"/>
          </a:solidFill>
          <a:ln/>
        </p:spPr>
      </p:sp>
      <p:sp>
        <p:nvSpPr>
          <p:cNvPr id="24" name="Text 22"/>
          <p:cNvSpPr txBox="1"/>
          <p:nvPr/>
        </p:nvSpPr>
        <p:spPr>
          <a:xfrm>
            <a:off x="5184648" y="3035808"/>
            <a:ext cx="3383280" cy="530352"/>
          </a:xfrm>
          <a:prstGeom prst="rect">
            <a:avLst/>
          </a:prstGeom>
          <a:noFill/>
          <a:ln/>
        </p:spPr>
        <p:txBody>
          <a:bodyPr wrap="square" rtlCol="0" anchor="ctr"/>
          <a:lstStyle/>
          <a:p>
            <a:pPr indent="0" marL="0">
              <a:lnSpc>
                <a:spcPct val="130000"/>
              </a:lnSpc>
              <a:buNone/>
            </a:pPr>
            <a:r>
              <a:rPr lang="en-US" sz="1050" dirty="0">
                <a:solidFill>
                  <a:srgbClr val="3D2535"/>
                </a:solidFill>
              </a:rPr>
              <a:t>Add SHAP / Grad-CAM for visual explainability</a:t>
            </a:r>
            <a:endParaRPr lang="en-US" sz="1050" dirty="0"/>
          </a:p>
        </p:txBody>
      </p:sp>
      <p:sp>
        <p:nvSpPr>
          <p:cNvPr id="25" name="Shape 23"/>
          <p:cNvSpPr/>
          <p:nvPr/>
        </p:nvSpPr>
        <p:spPr>
          <a:xfrm>
            <a:off x="5001768" y="3694176"/>
            <a:ext cx="91440" cy="91440"/>
          </a:xfrm>
          <a:prstGeom prst="ellipse">
            <a:avLst/>
          </a:prstGeom>
          <a:solidFill>
            <a:srgbClr val="C44569"/>
          </a:solidFill>
          <a:ln/>
        </p:spPr>
      </p:sp>
      <p:sp>
        <p:nvSpPr>
          <p:cNvPr id="26" name="Text 24"/>
          <p:cNvSpPr txBox="1"/>
          <p:nvPr/>
        </p:nvSpPr>
        <p:spPr>
          <a:xfrm>
            <a:off x="5184648" y="3639312"/>
            <a:ext cx="3383280" cy="530352"/>
          </a:xfrm>
          <a:prstGeom prst="rect">
            <a:avLst/>
          </a:prstGeom>
          <a:noFill/>
          <a:ln/>
        </p:spPr>
        <p:txBody>
          <a:bodyPr wrap="square" rtlCol="0" anchor="ctr"/>
          <a:lstStyle/>
          <a:p>
            <a:pPr indent="0" marL="0">
              <a:lnSpc>
                <a:spcPct val="130000"/>
              </a:lnSpc>
              <a:buNone/>
            </a:pPr>
            <a:r>
              <a:rPr lang="en-US" sz="1050" dirty="0">
                <a:solidFill>
                  <a:srgbClr val="3D2535"/>
                </a:solidFill>
              </a:rPr>
              <a:t>Expand automated API and UI test coverage</a:t>
            </a:r>
            <a:endParaRPr lang="en-US" sz="1050" dirty="0"/>
          </a:p>
        </p:txBody>
      </p:sp>
      <p:sp>
        <p:nvSpPr>
          <p:cNvPr id="27" name="Shape 25"/>
          <p:cNvSpPr/>
          <p:nvPr/>
        </p:nvSpPr>
        <p:spPr>
          <a:xfrm>
            <a:off x="5001768" y="4297680"/>
            <a:ext cx="91440" cy="91440"/>
          </a:xfrm>
          <a:prstGeom prst="ellipse">
            <a:avLst/>
          </a:prstGeom>
          <a:solidFill>
            <a:srgbClr val="C44569"/>
          </a:solidFill>
          <a:ln/>
        </p:spPr>
      </p:sp>
      <p:sp>
        <p:nvSpPr>
          <p:cNvPr id="28" name="Text 26"/>
          <p:cNvSpPr txBox="1"/>
          <p:nvPr/>
        </p:nvSpPr>
        <p:spPr>
          <a:xfrm>
            <a:off x="5184648" y="4242816"/>
            <a:ext cx="3383280" cy="530352"/>
          </a:xfrm>
          <a:prstGeom prst="rect">
            <a:avLst/>
          </a:prstGeom>
          <a:noFill/>
          <a:ln/>
        </p:spPr>
        <p:txBody>
          <a:bodyPr wrap="square" rtlCol="0" anchor="ctr"/>
          <a:lstStyle/>
          <a:p>
            <a:pPr indent="0" marL="0">
              <a:lnSpc>
                <a:spcPct val="130000"/>
              </a:lnSpc>
              <a:buNone/>
            </a:pPr>
            <a:r>
              <a:rPr lang="en-US" sz="1050" dirty="0">
                <a:solidFill>
                  <a:srgbClr val="3D2535"/>
                </a:solidFill>
              </a:rPr>
              <a:t>Add confidence threshold warning for borderline cases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0B10"/>
          </a:solidFill>
          <a:ln/>
        </p:spPr>
      </p:sp>
      <p:sp>
        <p:nvSpPr>
          <p:cNvPr id="3" name="Shape 1"/>
          <p:cNvSpPr/>
          <p:nvPr/>
        </p:nvSpPr>
        <p:spPr>
          <a:xfrm>
            <a:off x="2743200" y="731520"/>
            <a:ext cx="3657600" cy="3657600"/>
          </a:xfrm>
          <a:prstGeom prst="ellipse">
            <a:avLst/>
          </a:prstGeom>
          <a:solidFill>
            <a:srgbClr val="200815"/>
          </a:solidFill>
          <a:ln w="12700">
            <a:solidFill>
              <a:srgbClr val="3D1025"/>
            </a:solidFill>
            <a:prstDash val="solid"/>
          </a:ln>
        </p:spPr>
      </p:sp>
      <p:sp>
        <p:nvSpPr>
          <p:cNvPr id="4" name="Shape 2"/>
          <p:cNvSpPr/>
          <p:nvPr/>
        </p:nvSpPr>
        <p:spPr>
          <a:xfrm>
            <a:off x="3383280" y="1371600"/>
            <a:ext cx="2377440" cy="2377440"/>
          </a:xfrm>
          <a:prstGeom prst="ellipse">
            <a:avLst/>
          </a:prstGeom>
          <a:solidFill>
            <a:srgbClr val="1A1018"/>
          </a:solidFill>
          <a:ln w="12700">
            <a:solidFill>
              <a:srgbClr val="4D1530"/>
            </a:solidFill>
            <a:prstDash val="solid"/>
          </a:ln>
        </p:spPr>
      </p:sp>
      <p:sp>
        <p:nvSpPr>
          <p:cNvPr id="5" name="Text 3"/>
          <p:cNvSpPr txBox="1"/>
          <p:nvPr/>
        </p:nvSpPr>
        <p:spPr>
          <a:xfrm>
            <a:off x="914400" y="1097280"/>
            <a:ext cx="7315200" cy="1005840"/>
          </a:xfrm>
          <a:prstGeom prst="rect">
            <a:avLst/>
          </a:prstGeom>
          <a:noFill/>
          <a:ln/>
        </p:spPr>
        <p:txBody>
          <a:bodyPr wrap="square" rtlCol="0" anchor="ctr"/>
          <a:lstStyle/>
          <a:p>
            <a:pPr algn="ctr" indent="0" marL="0">
              <a:buNone/>
            </a:pPr>
            <a:r>
              <a:rPr lang="en-US" sz="6600" b="1" dirty="0">
                <a:solidFill>
                  <a:srgbClr val="FFFFFF"/>
                </a:solidFill>
                <a:latin typeface="Georgia" pitchFamily="34" charset="0"/>
                <a:ea typeface="Georgia" pitchFamily="34" charset="-122"/>
                <a:cs typeface="Georgia" pitchFamily="34" charset="-120"/>
              </a:rPr>
              <a:t>Thank</a:t>
            </a:r>
            <a:endParaRPr lang="en-US" sz="6600" dirty="0"/>
          </a:p>
        </p:txBody>
      </p:sp>
      <p:sp>
        <p:nvSpPr>
          <p:cNvPr id="6" name="Text 4"/>
          <p:cNvSpPr txBox="1"/>
          <p:nvPr/>
        </p:nvSpPr>
        <p:spPr>
          <a:xfrm>
            <a:off x="914400" y="1920240"/>
            <a:ext cx="7315200" cy="1005840"/>
          </a:xfrm>
          <a:prstGeom prst="rect">
            <a:avLst/>
          </a:prstGeom>
          <a:noFill/>
          <a:ln/>
        </p:spPr>
        <p:txBody>
          <a:bodyPr wrap="square" rtlCol="0" anchor="ctr"/>
          <a:lstStyle/>
          <a:p>
            <a:pPr algn="ctr" indent="0" marL="0">
              <a:buNone/>
            </a:pPr>
            <a:r>
              <a:rPr lang="en-US" sz="6600" b="1" i="1" dirty="0">
                <a:solidFill>
                  <a:srgbClr val="F8A5C2"/>
                </a:solidFill>
                <a:latin typeface="Georgia" pitchFamily="34" charset="0"/>
                <a:ea typeface="Georgia" pitchFamily="34" charset="-122"/>
                <a:cs typeface="Georgia" pitchFamily="34" charset="-120"/>
              </a:rPr>
              <a:t>You</a:t>
            </a:r>
            <a:endParaRPr lang="en-US" sz="6600" dirty="0"/>
          </a:p>
        </p:txBody>
      </p:sp>
      <p:sp>
        <p:nvSpPr>
          <p:cNvPr id="7" name="Text 5"/>
          <p:cNvSpPr txBox="1"/>
          <p:nvPr/>
        </p:nvSpPr>
        <p:spPr>
          <a:xfrm>
            <a:off x="914400" y="2944368"/>
            <a:ext cx="7315200" cy="292608"/>
          </a:xfrm>
          <a:prstGeom prst="rect">
            <a:avLst/>
          </a:prstGeom>
          <a:noFill/>
          <a:ln/>
        </p:spPr>
        <p:txBody>
          <a:bodyPr wrap="square" rtlCol="0" anchor="ctr"/>
          <a:lstStyle/>
          <a:p>
            <a:pPr algn="ctr" indent="0" marL="0">
              <a:buNone/>
            </a:pPr>
            <a:r>
              <a:rPr lang="en-US" sz="1200" dirty="0">
                <a:solidFill>
                  <a:srgbClr val="888888"/>
                </a:solidFill>
              </a:rPr>
              <a:t>Melanoma Classification · CNN + Data Augmentation</a:t>
            </a:r>
            <a:endParaRPr lang="en-US" sz="1200" dirty="0"/>
          </a:p>
        </p:txBody>
      </p:sp>
      <p:sp>
        <p:nvSpPr>
          <p:cNvPr id="8" name="Text 6"/>
          <p:cNvSpPr txBox="1"/>
          <p:nvPr/>
        </p:nvSpPr>
        <p:spPr>
          <a:xfrm>
            <a:off x="914400" y="3218688"/>
            <a:ext cx="7315200" cy="274320"/>
          </a:xfrm>
          <a:prstGeom prst="rect">
            <a:avLst/>
          </a:prstGeom>
          <a:noFill/>
          <a:ln/>
        </p:spPr>
        <p:txBody>
          <a:bodyPr wrap="square" rtlCol="0" anchor="ctr"/>
          <a:lstStyle/>
          <a:p>
            <a:pPr algn="ctr" indent="0" marL="0">
              <a:buNone/>
            </a:pPr>
            <a:r>
              <a:rPr lang="en-US" sz="1200" b="1" dirty="0">
                <a:solidFill>
                  <a:srgbClr val="F8A5C2"/>
                </a:solidFill>
              </a:rPr>
              <a:t>val AUC  0.9597  ·  val Accuracy  89.39%</a:t>
            </a:r>
            <a:endParaRPr lang="en-US" sz="1200" dirty="0"/>
          </a:p>
        </p:txBody>
      </p:sp>
      <p:sp>
        <p:nvSpPr>
          <p:cNvPr id="9" name="Shape 7"/>
          <p:cNvSpPr/>
          <p:nvPr/>
        </p:nvSpPr>
        <p:spPr>
          <a:xfrm>
            <a:off x="1371600" y="3639312"/>
            <a:ext cx="6400800" cy="475488"/>
          </a:xfrm>
          <a:prstGeom prst="roundRect">
            <a:avLst>
              <a:gd name="adj" fmla="val 26923"/>
            </a:avLst>
          </a:prstGeom>
          <a:solidFill>
            <a:srgbClr val="1E0F18"/>
          </a:solidFill>
          <a:ln w="12700">
            <a:solidFill>
              <a:srgbClr val="F8A5C2"/>
            </a:solidFill>
            <a:prstDash val="solid"/>
          </a:ln>
        </p:spPr>
      </p:sp>
      <p:sp>
        <p:nvSpPr>
          <p:cNvPr id="10" name="Text 8">
            <a:hlinkClick r:id="rId1" tooltip=""/>
          </p:cNvPr>
          <p:cNvSpPr txBox="1"/>
          <p:nvPr/>
        </p:nvSpPr>
        <p:spPr>
          <a:xfrm>
            <a:off x="1508760" y="3712464"/>
            <a:ext cx="6126480" cy="329184"/>
          </a:xfrm>
          <a:prstGeom prst="rect">
            <a:avLst/>
          </a:prstGeom>
          <a:noFill/>
          <a:ln/>
        </p:spPr>
        <p:txBody>
          <a:bodyPr wrap="square" rtlCol="0" anchor="ctr"/>
          <a:lstStyle/>
          <a:p>
            <a:pPr algn="ctr" indent="0" marL="0">
              <a:buNone/>
            </a:pPr>
            <a:r>
              <a:rPr lang="en-US" sz="1000" u="sng" dirty="0">
                <a:solidFill>
                  <a:srgbClr val="F8A5C2"/>
                </a:solidFill>
                <a:hlinkClick r:id="rId1" invalidUrl="" action="" tgtFrame="" tooltip="" history="1" highlightClick="0" endSnd="0">
                  <a:extLst>
                    <a:ext uri="{A12FA001-AC4F-418D-AE19-62706E023703}">
                      <ahyp:hlinkClr xmlns:ahyp="http://schemas.microsoft.com/office/drawing/2018/hyperlinkcolor" val="tx"/>
                    </a:ext>
                  </a:extLst>
                </a:hlinkClick>
              </a:rPr>
              <a:t>🔗  binxaimlinternship-ahm9zn2cc7ebk8gzw7fzhh.streamlit.app</a:t>
            </a:r>
            <a:endParaRPr lang="en-US" sz="1000" dirty="0"/>
          </a:p>
        </p:txBody>
      </p:sp>
      <p:sp>
        <p:nvSpPr>
          <p:cNvPr id="11" name="Text 9"/>
          <p:cNvSpPr txBox="1"/>
          <p:nvPr/>
        </p:nvSpPr>
        <p:spPr>
          <a:xfrm>
            <a:off x="914400" y="4242816"/>
            <a:ext cx="7315200" cy="219456"/>
          </a:xfrm>
          <a:prstGeom prst="rect">
            <a:avLst/>
          </a:prstGeom>
          <a:noFill/>
          <a:ln/>
        </p:spPr>
        <p:txBody>
          <a:bodyPr wrap="square" rtlCol="0" anchor="ctr"/>
          <a:lstStyle/>
          <a:p>
            <a:pPr algn="ctr" indent="0" marL="0">
              <a:buNone/>
            </a:pPr>
            <a:r>
              <a:rPr lang="en-US" sz="900" dirty="0">
                <a:solidFill>
                  <a:srgbClr val="444444"/>
                </a:solidFill>
              </a:rPr>
              <a:t>BinX Tech · AI &amp; ML Internship · 2026</a:t>
            </a:r>
            <a:endParaRPr lang="en-US" sz="900" dirty="0"/>
          </a:p>
        </p:txBody>
      </p:sp>
      <p:sp>
        <p:nvSpPr>
          <p:cNvPr id="12" name="Text 10"/>
          <p:cNvSpPr txBox="1"/>
          <p:nvPr/>
        </p:nvSpPr>
        <p:spPr>
          <a:xfrm>
            <a:off x="914400" y="4480560"/>
            <a:ext cx="7315200" cy="411480"/>
          </a:xfrm>
          <a:prstGeom prst="rect">
            <a:avLst/>
          </a:prstGeom>
          <a:noFill/>
          <a:ln/>
        </p:spPr>
        <p:txBody>
          <a:bodyPr wrap="square" rtlCol="0" anchor="ctr"/>
          <a:lstStyle/>
          <a:p>
            <a:pPr algn="ctr" indent="0" marL="0">
              <a:buNone/>
            </a:pPr>
            <a:r>
              <a:rPr lang="en-US" sz="1600" i="1" dirty="0">
                <a:solidFill>
                  <a:srgbClr val="F8A5C2"/>
                </a:solidFill>
                <a:latin typeface="Georgia" pitchFamily="34" charset="0"/>
                <a:ea typeface="Georgia" pitchFamily="34" charset="-122"/>
                <a:cs typeface="Georgia" pitchFamily="34" charset="-120"/>
              </a:rPr>
              <a:t>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2026-09-24T06:36:12Z</dcterms:created>
  <dcterms:modified xsi:type="dcterms:W3CDTF">2026-09-24T06:36:12Z</dcterms:modified>
</cp:coreProperties>
</file>